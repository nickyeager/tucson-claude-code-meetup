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ECF4"/>
                </a:solidFill>
                <a:latin typeface="Inter"/>
              </a:defRPr>
            </a:pPr>
            <a:r>
              <a:t>Building AI Agents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B4"/>
                </a:solidFill>
                <a:latin typeface="Inter"/>
              </a:defRPr>
            </a:pPr>
            <a:r>
              <a:t>Session 3: Subagents &amp; 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853D"/>
                </a:solidFill>
                <a:latin typeface="Inter"/>
              </a:defRPr>
            </a:pPr>
            <a:r>
              <a:t>Specialists Beat Generalists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B4"/>
                </a:solidFill>
                <a:latin typeface="Inter"/>
              </a:defRPr>
            </a:pPr>
            <a:r>
              <a:t>Nick Yeager — AI Solutions Architect / nickcyeager.com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Recap — Where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Last session we built composable slash commands: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/plan-event — structured event planning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/build-schedule — time-slot optimization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290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/draft-announcement — community comms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/draft-speaker-outreach — personalized emails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All composable via JSON contracts between commands.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853D"/>
                </a:solidFill>
                <a:latin typeface="Inter"/>
              </a:defRPr>
            </a:pPr>
            <a:r>
              <a:t>Today: break the monolith.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Today's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9CF5"/>
                </a:solidFill>
                <a:latin typeface="Inter"/>
              </a:defRPr>
            </a:pPr>
            <a:r>
              <a:t>Build specialist subagents + automated review hooks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Topic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28600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9" y="2331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Why It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Why monoliths fail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78892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28346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Context overload kills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Subagents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2918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3337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Isolated specialists, one job 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Hooks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7947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Lifecycle automation, quality gates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Model 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2976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79" y="4343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Right model for the right task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853D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B4"/>
                </a:solidFill>
                <a:latin typeface="Inter"/>
              </a:defRPr>
            </a:pPr>
            <a:r>
              <a:t>The Monolith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9144000" cy="16459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337560"/>
            <a:ext cx="8778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JetBrains Mono"/>
              </a:defRPr>
            </a:pPr>
            <a:r>
              <a:t>Optimize the schedule for conflicts, rewrite the</a:t>
            </a:r>
            <a:br/>
            <a:r>
              <a:t>announcement for better engagement, review the</a:t>
            </a:r>
            <a:br/>
            <a:r>
              <a:t>speaker outreach emails for tone, and suggest a</a:t>
            </a:r>
            <a:br/>
            <a:r>
              <a:t>better venue layout -- all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38BA8"/>
                </a:solidFill>
                <a:latin typeface="Inter"/>
              </a:defRPr>
            </a:pPr>
            <a:r>
              <a:t>Watch what happens to quality...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Why Monolithic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What Happens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Context overload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945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22402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Agent juggles too many concerns, drops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No specialization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7432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Generic output for every task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91839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No quality gates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291839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33375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No review step, errors pass through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Can't parallelize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8404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Sequential bottleneck, one massive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The agent isn't bad — it's stretched too thin.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Subagents — The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9692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JetBrains Mono"/>
              </a:defRPr>
            </a:pPr>
            <a:r>
              <a:t>                    Main Agent</a:t>
            </a:r>
            <a:br/>
            <a:r>
              <a:t>                   (orchestrator)</a:t>
            </a:r>
            <a:br/>
            <a:r>
              <a:t>                        |</a:t>
            </a:r>
            <a:br/>
            <a:r>
              <a:t>          +-------------+-------------+</a:t>
            </a:r>
            <a:br/>
            <a:r>
              <a:t>          |             |             |</a:t>
            </a:r>
            <a:br/>
            <a:r>
              <a:t>   schedule-      comms-       speaker-</a:t>
            </a:r>
            <a:br/>
            <a:r>
              <a:t>   optimizer      reviewer     matcher</a:t>
            </a:r>
            <a:br/>
            <a:r>
              <a:t>   Own context    Own context   Own context</a:t>
            </a:r>
            <a:br/>
            <a:r>
              <a:t>   Limited tools  Limited tools Limited tools</a:t>
            </a:r>
            <a:br/>
            <a:r>
              <a:t>   One-shot       One-shot      One-shot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Each subagent: isolated context, focused job, auto-invocable.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Anatomy of a Subagent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B9CF5"/>
                </a:solidFill>
                <a:latin typeface="JetBrains Mono"/>
              </a:defRPr>
            </a:pPr>
            <a:r>
              <a:t>.claude/agents/schedule-optimizer.md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9144000" cy="4389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8778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B4"/>
                </a:solidFill>
                <a:latin typeface="JetBrains Mono"/>
              </a:defRPr>
            </a:pPr>
            <a:r>
              <a:t>---</a:t>
            </a:r>
            <a:br/>
            <a:r>
              <a:t>name: schedule-optimizer</a:t>
            </a:r>
            <a:br/>
            <a:r>
              <a:t>description: Proactively analyzes event schedules</a:t>
            </a:r>
            <a:br/>
            <a:r>
              <a:t>  for conflicts, optimizes time slots</a:t>
            </a:r>
            <a:br/>
            <a:r>
              <a:t>tools: Read, Grep, Glob</a:t>
            </a:r>
            <a:br/>
            <a:r>
              <a:t>---</a:t>
            </a:r>
            <a:br/>
            <a:br/>
            <a:r>
              <a:t># Schedule Optimizer Agent</a:t>
            </a:r>
            <a:br/>
            <a:br/>
            <a:r>
              <a:t>## Instructions</a:t>
            </a:r>
            <a:br/>
            <a:r>
              <a:t>You are a schedule optimization specialist.</a:t>
            </a:r>
            <a:br/>
            <a:r>
              <a:t>Analyze the provided schedule for conflicts,</a:t>
            </a:r>
            <a:br/>
            <a:r>
              <a:t>gaps, and topic clustering issues.</a:t>
            </a:r>
            <a:br/>
            <a:br/>
            <a:r>
              <a:t>## Output Format</a:t>
            </a:r>
            <a:br/>
            <a:r>
              <a:t>Return JSON: conflicts, suggestions, optimized_schedule</a:t>
            </a:r>
            <a:br/>
            <a:br/>
            <a:r>
              <a:t>## Rules</a:t>
            </a:r>
            <a:br/>
            <a:r>
              <a:t>- Never modify files directly</a:t>
            </a:r>
            <a:br/>
            <a:r>
              <a:t>- Flag conflicts, don't silently resolve them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Key Subagent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Concept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Own context window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945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22402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Fresh context, no bleed from parent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Limited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7432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Only what it needs — Read, Grep, Glob, not Write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91839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"Proactively" keyword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291839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33375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In description: tells Claude to auto-invoke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One-shot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8404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Does its job, returns result, exits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Structured 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38912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4434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JSON contract for reliable handoff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03520"/>
            <a:ext cx="9144000" cy="7315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4068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B4"/>
                </a:solidFill>
                <a:latin typeface="JetBrains Mono"/>
              </a:defRPr>
            </a:pPr>
            <a:r>
              <a:t>description: Proactively analyzes schedules for conflicts</a:t>
            </a:r>
            <a:br/>
            <a:r>
              <a:t>  and optimization opportunities.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53D"/>
                </a:solidFill>
                <a:latin typeface="Inter"/>
              </a:defRPr>
            </a:pPr>
            <a:r>
              <a:t>"Proactively" = Claude will invoke this agent without being asked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853D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B4"/>
                </a:solidFill>
                <a:latin typeface="Inter"/>
              </a:defRPr>
            </a:pPr>
            <a:r>
              <a:t>Schedule Optimizer Subagent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CF4"/>
                </a:solidFill>
                <a:latin typeface="Inter"/>
              </a:defRPr>
            </a:pPr>
            <a:r>
              <a:t>What to watch for: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Specific conflict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434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Concrete time-slot suggestions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0749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Structured, actionable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7150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Compare to the monolith attempt from Slide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Comms Reviewer Subagent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Scores communications 1-10 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Criteria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01168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9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What It Checks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Completeness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5146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2560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Date, time, location, RSVP link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Tone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01752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3063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Welcoming, professional, on-brand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204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Clarity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5204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Scannable, no jargon, clear next 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233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0233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79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Strong call-to-action, easy to act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853D"/>
                </a:solidFill>
                <a:latin typeface="Inter"/>
              </a:defRPr>
            </a:pPr>
            <a:r>
              <a:t>Final verdict: SEND / REVISE / REWRITE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The Quality Jump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8BA8"/>
                </a:solidFill>
                <a:latin typeface="Inter"/>
              </a:defRPr>
            </a:pPr>
            <a:r>
              <a:t>Before (Monolith)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"The schedule looks fine, maybe move Talk B"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"The announcement is good, consider adding more detail"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Generic, surface-level, no specifics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6C495"/>
                </a:solidFill>
                <a:latin typeface="Inter"/>
              </a:defRPr>
            </a:pPr>
            <a:r>
              <a:t>After (Specialists)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34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3 conflicts detected, specific resolutions proposed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834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Email scored 6/10: missing RSVP link, weak CTA, too formal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321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Focused, thorough, actionable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Same model. Same data. Different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Model Routing with ngrok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Route the right model to the right task: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01168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1168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Drafting email copy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5146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gpt-4o-mini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5146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Fast, cheap, good at prose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Schedule optimization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01752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claude-sonnet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01752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Strong at structured reasoning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2044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Quality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52044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9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claude-sonnet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52044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Nuanced evaluation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233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69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Simple formatting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40233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79" y="4069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gpt-4o-mini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40233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4069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Don't overspend on easy tasks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029200"/>
            <a:ext cx="7315200" cy="548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16636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JetBrains Mono"/>
              </a:defRPr>
            </a:pPr>
            <a:r>
              <a:t>{ "model": "ngrok/auto", "routing": "let the gateway choose"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Hooks — Lifecycle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Hooks = code that runs when things happen in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Hook Event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01168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When It Fires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1168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Use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PreToolUse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4688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2514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Before a tool executes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4688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514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Block dangerous ops, validate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PostToolUse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9260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After a tool completes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9260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Trigger reviews, log 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832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29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UserPromptSubmit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3832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9" y="3429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User sends a message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3832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3429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Validate/transform 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404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Stop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38404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79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Agent finishes responding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38404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Summarize, commit, clean 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2976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343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SubagentStop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42976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79" y="4343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Subagent finishes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42976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79" y="4343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Process subagent 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53D"/>
                </a:solidFill>
                <a:latin typeface="Inter"/>
              </a:defRPr>
            </a:pPr>
            <a:r>
              <a:t>Think of hooks as CI/CD for your agent workflow.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Auto-Review Hook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B9CF5"/>
                </a:solidFill>
                <a:latin typeface="JetBrains Mono"/>
              </a:defRPr>
            </a:pPr>
            <a:r>
              <a:t>.claude/hooks/auto-review.sh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0058400" cy="3840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B4"/>
                </a:solidFill>
                <a:latin typeface="JetBrains Mono"/>
              </a:defRPr>
            </a:pPr>
            <a:r>
              <a:t>#!/bin/bash</a:t>
            </a:r>
            <a:br/>
            <a:r>
              <a:t># PostToolUse hook: fires after every Write tool call</a:t>
            </a:r>
            <a:br/>
            <a:r>
              <a:t>INPUT=$(cat)</a:t>
            </a:r>
            <a:br/>
            <a:r>
              <a:t>TOOL_NAME=$(echo "$INPUT" | python3 -c \</a:t>
            </a:r>
            <a:br/>
            <a:r>
              <a:t>  "import sys,json; print(json.load(sys.stdin).get('tool_name',''))")</a:t>
            </a:r>
            <a:br/>
            <a:r>
              <a:t>FILE_PATH=$(echo "$INPUT" | python3 -c \</a:t>
            </a:r>
            <a:br/>
            <a:r>
              <a:t>  "import sys,json; print(json.load(sys.stdin).get('tool_input',{}).get('file_path',''))")</a:t>
            </a:r>
            <a:br/>
            <a:br/>
            <a:r>
              <a:t>if [[ "$TOOL_NAME" == "Write" ]]; then</a:t>
            </a:r>
            <a:br/>
            <a:r>
              <a:t>    if [[ "$FILE_PATH" == *"comms/"* ]]; then</a:t>
            </a:r>
            <a:br/>
            <a:r>
              <a:t>        echo "Auto-review triggered for $FILE_PATH"</a:t>
            </a:r>
            <a:br/>
            <a:r>
              <a:t>    fi</a:t>
            </a:r>
            <a:br/>
            <a:r>
              <a:t>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53D"/>
                </a:solidFill>
                <a:latin typeface="Inter"/>
              </a:defRPr>
            </a:pPr>
            <a:r>
              <a:t>Any write to comms/ = automatic quality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Registering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B9CF5"/>
                </a:solidFill>
                <a:latin typeface="JetBrains Mono"/>
              </a:defRPr>
            </a:pPr>
            <a:r>
              <a:t>.claude/settings.local.json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7315200" cy="3474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B4"/>
                </a:solidFill>
                <a:latin typeface="JetBrains Mono"/>
              </a:defRPr>
            </a:pPr>
            <a:r>
              <a:t>{</a:t>
            </a:r>
            <a:br/>
            <a:r>
              <a:t>  "hooks": {</a:t>
            </a:r>
            <a:br/>
            <a:r>
              <a:t>    "PostToolUse": [</a:t>
            </a:r>
            <a:br/>
            <a:r>
              <a:t>      {</a:t>
            </a:r>
            <a:br/>
            <a:r>
              <a:t>        "matcher": "Write",</a:t>
            </a:r>
            <a:br/>
            <a:r>
              <a:t>        "hooks": [</a:t>
            </a:r>
            <a:br/>
            <a:r>
              <a:t>          {</a:t>
            </a:r>
            <a:br/>
            <a:r>
              <a:t>            "type": "command",</a:t>
            </a:r>
            <a:br/>
            <a:r>
              <a:t>            "command": ".claude/hooks/auto-review.sh"</a:t>
            </a:r>
            <a:br/>
            <a:r>
              <a:t>          }</a:t>
            </a:r>
            <a:br/>
            <a:r>
              <a:t>        ]</a:t>
            </a:r>
            <a:br/>
            <a:r>
              <a:t>      }</a:t>
            </a:r>
            <a:br/>
            <a:r>
              <a:t>    ]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Field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01168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PostToolUse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688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Fire after a tool runs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71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matcher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9260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2971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Only trigger on Write tool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832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29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hooks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3832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9" y="3429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Array of hook 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type + command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8404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79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Run a shell command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853D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B4"/>
                </a:solidFill>
                <a:latin typeface="Inter"/>
              </a:defRPr>
            </a:pPr>
            <a:r>
              <a:t>The Full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286000"/>
            <a:ext cx="8229600" cy="41148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2316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B4"/>
                </a:solidFill>
                <a:latin typeface="JetBrains Mono"/>
              </a:defRPr>
            </a:pPr>
            <a:r>
              <a:t>/plan-event "Python meetup April 2026"</a:t>
            </a:r>
            <a:br/>
            <a:r>
              <a:t>    |</a:t>
            </a:r>
            <a:br/>
            <a:r>
              <a:t>    v</a:t>
            </a:r>
            <a:br/>
            <a:r>
              <a:t>/build-schedule</a:t>
            </a:r>
            <a:br/>
            <a:r>
              <a:t>    |</a:t>
            </a:r>
            <a:br/>
            <a:r>
              <a:t>    v</a:t>
            </a:r>
            <a:br/>
            <a:r>
              <a:t>schedule-optimizer (subagent auto-invoked)</a:t>
            </a:r>
            <a:br/>
            <a:r>
              <a:t>    |</a:t>
            </a:r>
            <a:br/>
            <a:r>
              <a:t>    v</a:t>
            </a:r>
            <a:br/>
            <a:r>
              <a:t>/draft-announcement</a:t>
            </a:r>
            <a:br/>
            <a:r>
              <a:t>    |</a:t>
            </a:r>
            <a:br/>
            <a:r>
              <a:t>    v</a:t>
            </a:r>
            <a:br/>
            <a:r>
              <a:t>Write to comms/ --&gt; hook fires --&gt; comms-reviewer</a:t>
            </a:r>
            <a:br/>
            <a:r>
              <a:t>    |</a:t>
            </a:r>
            <a:br/>
            <a:r>
              <a:t>    v</a:t>
            </a:r>
            <a:br/>
            <a:r>
              <a:t>Scored output: SEND / REVISE / REWRITE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853D"/>
                </a:solidFill>
                <a:latin typeface="Inter"/>
              </a:defRPr>
            </a:pPr>
            <a:r>
              <a:t>Zero manual review steps. Automated quality.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MCP — Connecting External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Model Context Protocol — standard interface for external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9144000" cy="18288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8778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JetBrains Mono"/>
              </a:defRPr>
            </a:pPr>
            <a:r>
              <a:t>Claude Code --&gt; MCP Server --&gt; External Service</a:t>
            </a:r>
            <a:br/>
            <a:r>
              <a:t>                              +-- Eventbrite API</a:t>
            </a:r>
            <a:br/>
            <a:r>
              <a:t>                              +-- Google Calendar</a:t>
            </a:r>
            <a:br/>
            <a:r>
              <a:t>                              +-- Slack</a:t>
            </a:r>
            <a:br/>
            <a:r>
              <a:t>                              +--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CF4"/>
                </a:solidFill>
                <a:latin typeface="Inter"/>
              </a:defRPr>
            </a:pPr>
            <a:r>
              <a:t>Recent improvements: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091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Tool Search — lazy-loads tools on demand, up to 95% context savings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578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Channels (preview) — MCP servers push messages into your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Inter"/>
              </a:defRPr>
            </a:pPr>
            <a:r>
              <a:t>Aside for today — but the architecture supports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Tips &amp; Gotchas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6C495"/>
                </a:solidFill>
                <a:latin typeface="Inter"/>
              </a:defRPr>
            </a:pPr>
            <a:r>
              <a:t>Do: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Use "Proactively" in subagent descriptions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Design descriptions to be self-contained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632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Give subagents minimal tool 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04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Return structured JSON from subagents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Test subagents in isolation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8BA8"/>
                </a:solidFill>
                <a:latin typeface="Inter"/>
              </a:defRPr>
            </a:pPr>
            <a:r>
              <a:t>Don't: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663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Give subagents tools they don't need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77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Assume subagents share context with parent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9893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Hook every single tool event (performance)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008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263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Make subagents that depend on each other's state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8853D"/>
                </a:solidFill>
                <a:latin typeface="Inter"/>
              </a:defRPr>
            </a:pPr>
            <a:r>
              <a:t>BUILD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B4"/>
                </a:solidFill>
                <a:latin typeface="Inter"/>
              </a:defRPr>
            </a:pPr>
            <a:r>
              <a:t>Specialist Subagents + Auto-Review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3375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Create schedule-optimizer subagent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690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Create comms-reviewer subagent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006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Wire up the auto-review hook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Run the full loop and compare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853D"/>
                </a:solidFill>
                <a:latin typeface="Inter"/>
              </a:defRPr>
            </a:pPr>
            <a:r>
              <a:t>Time: ~35 minutes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schedule-optimizer subagent detects real conflicts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comms-reviewer subagent scores and verdicts communications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11879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Hook fires automatically on comms/ writes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34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Visible quality improvement over monolith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53D"/>
                </a:solidFill>
                <a:latin typeface="Inter"/>
              </a:defRPr>
            </a:pPr>
            <a:r>
              <a:t>Raise your hand if you're stuck — we'll do a group debug.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What's Next — Session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B9CF5"/>
                </a:solidFill>
                <a:latin typeface="Inter"/>
              </a:defRPr>
            </a:pPr>
            <a:r>
              <a:t>Parallel Agents &amp; Feedback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3 competing agents generate different approaches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Specialist evaluators score each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Feedback system picks the best, iterates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853D"/>
                </a:solidFill>
                <a:latin typeface="Inter"/>
              </a:defRPr>
            </a:pPr>
            <a:r>
              <a:t>The architecture scales: more agents, better results.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ECF4"/>
                </a:solidFill>
                <a:latin typeface="Inter"/>
              </a:defRPr>
            </a:pPr>
            <a:r>
              <a:t>Session 3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B4"/>
                </a:solidFill>
                <a:latin typeface="Inter"/>
              </a:defRPr>
            </a:pPr>
            <a:r>
              <a:t>Three things to remember: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853D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CF4"/>
                </a:solidFill>
                <a:latin typeface="Inter"/>
              </a:defRPr>
            </a:pPr>
            <a:r>
              <a:t>Specialists Beat Generalists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Same model, focused context = dramatically better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B9CF5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CF4"/>
                </a:solidFill>
                <a:latin typeface="Inter"/>
              </a:defRPr>
            </a:pPr>
            <a:r>
              <a:t>Hooks Automate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No manual review steps. Code runs when things happen.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6C495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CF4"/>
                </a:solidFill>
                <a:latin typeface="Inter"/>
              </a:defRPr>
            </a:pPr>
            <a:r>
              <a:t>Route Models to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Right model for the right job. Don't overspend, don't undershoot.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853D"/>
                </a:solidFill>
                <a:latin typeface="Inter"/>
              </a:defRPr>
            </a:pPr>
            <a:r>
              <a:t>Next session: we make the agents compete.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