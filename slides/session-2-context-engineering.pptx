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E8ECF4"/>
                </a:solidFill>
                <a:latin typeface="Arial"/>
              </a:defRPr>
            </a:pPr>
            <a: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A3B4"/>
                </a:solidFill>
                <a:latin typeface="Arial"/>
              </a:defRPr>
            </a:pPr>
            <a:r>
              <a:t>Session 2 — Context Engineering: Blueprints Beat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E8853D"/>
                </a:solidFill>
                <a:latin typeface="Arial"/>
              </a:defRPr>
            </a:pPr>
            <a:r>
              <a:t>Nick Yeager  ·  AI Solutions Architect  ·  nickcyeager.com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CA3B4"/>
                </a:solidFill>
                <a:latin typeface="Courier New"/>
              </a:defRPr>
            </a:pPr>
            <a:r>
              <a:t>github.com/ai-trailblazers/tucson-claude-code-meetup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Where We Left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Git repo with CLAUDE.md defining personality and schemas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/plan-event generates structured JSON event plans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An LLM provider connected — Claude Code Max, Anthropic API, or ngrok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20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7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Sample venue and speaker data in data/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Today's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A pipeline: /plan-event → /build-schedule → /draft-announcement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8094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Context engineering vs. prompt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9592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INITIAL.md — feature requests that actually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109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73752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PRPs — implementation blueprints with validation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2589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88736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Composable slash commands and the examples/ folder 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2743200"/>
            <a:ext cx="7315200" cy="4572000"/>
          </a:xfrm>
          <a:prstGeom prst="parallelogram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4114800"/>
            <a:ext cx="6400800" cy="3657600"/>
          </a:xfrm>
          <a:prstGeom prst="parallelogram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400" b="1" i="0">
                <a:solidFill>
                  <a:srgbClr val="E8ECF4"/>
                </a:solidFill>
                <a:latin typeface="Arial"/>
              </a:defRPr>
            </a:pPr>
            <a:r>
              <a:t>Most AI failures are context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2062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0">
                <a:solidFill>
                  <a:srgbClr val="9CA3B4"/>
                </a:solidFill>
                <a:latin typeface="Arial"/>
              </a:defRPr>
            </a:pPr>
            <a:r>
              <a:t>The model isn't the bottleneck. Your context is.</a:t>
            </a:r>
          </a:p>
        </p:txBody>
      </p:sp>
      <p:sp>
        <p:nvSpPr>
          <p:cNvPr id="6" name="Right Triangle 5"/>
          <p:cNvSpPr/>
          <p:nvPr/>
        </p:nvSpPr>
        <p:spPr>
          <a:xfrm>
            <a:off x="11277295" y="0"/>
            <a:ext cx="914400" cy="914400"/>
          </a:xfrm>
          <a:prstGeom prst="rtTriangl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67% of AI Sites Look Identical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13583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Inter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Same centered headline layout across hundreds of Show HN 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5103" y="1645920"/>
            <a:ext cx="2613583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Purple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The 'VibeCode' gradient + dark mode + grey body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645920"/>
            <a:ext cx="2613583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Icon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shadcn feature grids with icons on top — all identical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1645920"/>
            <a:ext cx="2613583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853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Glass FX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Blurry cards, same gradient shadows, same rounded corners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Prompt Engineering vs. Context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38BA8"/>
                </a:solidFill>
                <a:latin typeface="Arial"/>
              </a:defRPr>
            </a:pPr>
            <a:r>
              <a:t>Prompt Engineering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Clever wording, sticky-note approach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Hopes the AI guesses right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Breaks at complexity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Failure: 'Why didn't it know X?'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42316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Complete system, full screenplay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29184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Gives the AI everything it needs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16052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Scales with structure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02920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Failure: 'I forgot to include X'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Live Demo — Same Task, Two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38BA8"/>
                </a:solidFill>
                <a:latin typeface="Arial"/>
              </a:defRPr>
            </a:pPr>
            <a:r>
              <a:t>Prompt Only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'Write an announcement for a RAG meetup'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Generic. Made-up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Bland tone, no specifics.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With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242316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Read events/building-rag-pipelines.json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329184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Read data/speakers.json for bios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16052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Read examples/sample-event-plan.json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502920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Real names, real date, on-tone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The Context Engineering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CLAUDE.md              Always-on rules (personality, schemas)</a:t>
            </a:r>
            <a:br/>
            <a:r>
              <a:t>examples/              Reference outputs the AI mimics</a:t>
            </a:r>
            <a:br/>
            <a:r>
              <a:t>data/                  Real information to work with</a:t>
            </a:r>
            <a:br/>
            <a:r>
              <a:t>INITIAL.md             Feature spec (what to build)</a:t>
            </a:r>
            <a:br/>
            <a:r>
              <a:t>PRPs/                  Implementation blueprint (how to build)</a:t>
            </a:r>
            <a:br/>
            <a:r>
              <a:t>.claude/commands/      Reusable workflows (composable tools)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Each layer adds context. More context = better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INITIAL.md — The Feature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## FEATURE:</a:t>
            </a:r>
            <a:br/>
            <a:r>
              <a:t>What to build — be specific about inputs, outputs, behavior</a:t>
            </a:r>
            <a:br/>
            <a:br/>
            <a:r>
              <a:t>## EXAMPLES:</a:t>
            </a:r>
            <a:br/>
            <a:r>
              <a:t>Files to learn from — point to actual files in your repo</a:t>
            </a:r>
            <a:br/>
            <a:br/>
            <a:r>
              <a:t>## DOCUMENTATION:</a:t>
            </a:r>
            <a:br/>
            <a:r>
              <a:t>APIs, schemas, constraints — the rules it must follow</a:t>
            </a:r>
            <a:br/>
            <a:br/>
            <a:r>
              <a:t>## OTHER CONSIDERATIONS:</a:t>
            </a:r>
            <a:br/>
            <a:r>
              <a:t>Gotchas, edge cases, integration points — what could go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Replaces vague Slack messages with an engineering spec.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Bad vs. Good Feature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38BA8"/>
                </a:solidFill>
                <a:latin typeface="Arial"/>
              </a:defRPr>
            </a:pPr>
            <a:r>
              <a:t>Bad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'Build a scheduling system for meetups'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No data 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No constraints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Ambiguous 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42316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Reads event plan JSON from /plan-event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29184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Uses speaker availability from data/speakers.json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16052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Adds breaks every 90 min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02920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Outputs both markdown and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E8ECF4"/>
                </a:solidFill>
                <a:latin typeface="Arial"/>
              </a:defRPr>
            </a:pPr>
            <a:r>
              <a:t>PRPs — Implementation Blueprints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7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CF4"/>
                </a:solidFill>
                <a:latin typeface="Arial"/>
              </a:defRPr>
            </a:pPr>
            <a:r>
              <a:t>Complete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B4"/>
                </a:solidFill>
                <a:latin typeface="Arial"/>
              </a:defRPr>
            </a:pPr>
            <a:r>
              <a:t>Everything the AI needs to know, in one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7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CF4"/>
                </a:solidFill>
                <a:latin typeface="Arial"/>
              </a:defRPr>
            </a:pPr>
            <a:r>
              <a:t>Step-by-Step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B4"/>
                </a:solidFill>
                <a:latin typeface="Arial"/>
              </a:defRPr>
            </a:pPr>
            <a:r>
              <a:t>Ordered tasks with dependencies and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7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CF4"/>
                </a:solidFill>
                <a:latin typeface="Arial"/>
              </a:defRPr>
            </a:pPr>
            <a:r>
              <a:t>Validation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B4"/>
                </a:solidFill>
                <a:latin typeface="Arial"/>
              </a:defRPr>
            </a:pPr>
            <a:r>
              <a:t>Tests and checks that must pass before moving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The PRP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INITIAL.md   →   /generate-prp   →   PRPs/comms.md   →   /execute-prp   →   Code</a:t>
            </a:r>
            <a:br/>
            <a:r>
              <a:t>    ^                                       ^</a:t>
            </a:r>
            <a:br/>
            <a:r>
              <a:t>    |                                       |</a:t>
            </a:r>
            <a:br/>
            <a:r>
              <a:t>You write the WHAT                Claude builds the HOW</a:t>
            </a:r>
            <a:br/>
            <a:br/>
            <a:r>
              <a:t>  1. You describe the feature in INITIAL.md</a:t>
            </a:r>
            <a:br/>
            <a:r>
              <a:t>  2. /generate-prp researches your codebase, generates a blueprint</a:t>
            </a:r>
            <a:br/>
            <a:r>
              <a:t>  3. You review the PRP — catch misunderstandings early</a:t>
            </a:r>
            <a:br/>
            <a:r>
              <a:t>  4. /execute-prp follows the blueprint step by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Review the PRP before executing. The PRP is your checkpoint.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Live Demo — /generate-prp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Run: /generate-prp INITIAL.md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Claude reads INITIAL.md, CLAUDE.md, and your existing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Researches patterns from examples/ and data/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20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7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Writes PRPs/meetup-comms.md — review it before executing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Live Demo — /execute-prp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Run: /execute-prp PRPs/meetup-comms.md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Creates build-schedule, draft-announcement, draft-speaker-outreach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Validates against the event plan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20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7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Following a blueprint you reviewed — not guessing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The Examples/ Folder Trick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DIR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examples/</a:t>
            </a:r>
            <a:br/>
            <a:r>
              <a:t>  sample-event-plan.json     "Make output look like this"</a:t>
            </a:r>
            <a:br/>
            <a:r>
              <a:t>  sample-announcement.md     "Match this tone and format"</a:t>
            </a:r>
            <a:br/>
            <a:r>
              <a:t>  sample-schedule.md         "Follow this structure"</a:t>
            </a:r>
            <a:br/>
            <a:br/>
            <a:r>
              <a:t>The AI pattern-matches against your examples.</a:t>
            </a:r>
            <a:br/>
            <a:br/>
            <a:r>
              <a:t>Show it. Don't describe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More examples = dramatically better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Composable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PIPE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/plan-event "RAG pipelines"</a:t>
            </a:r>
            <a:br/>
            <a:r>
              <a:t>    → events/rag-pipelines.json</a:t>
            </a:r>
            <a:br/>
            <a:br/>
            <a:r>
              <a:t>/build-schedule events/rag-pipelines.json</a:t>
            </a:r>
            <a:br/>
            <a:r>
              <a:t>    → schedules/rag-pipelines.md  +  .json</a:t>
            </a:r>
            <a:br/>
            <a:br/>
            <a:r>
              <a:t>/draft-announcement events/rag-pipelines.json</a:t>
            </a:r>
            <a:br/>
            <a:r>
              <a:t>    → comms/rag-pipelines-announcement.md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Each command reads structured data from the previous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$ARGUMENTS in Slash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A0D12"/>
                </a:solidFill>
                <a:latin typeface="Courier New"/>
              </a:defRPr>
            </a:pPr>
            <a:r>
              <a:t>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0">
                <a:solidFill>
                  <a:srgbClr val="E8ECF4"/>
                </a:solidFill>
                <a:latin typeface="Courier New"/>
              </a:defRPr>
            </a:pPr>
            <a:r>
              <a:t># .claude/commands/build-schedule.md</a:t>
            </a:r>
            <a:br/>
            <a:br/>
            <a:r>
              <a:t>Build a schedule for the event plan at: $ARGUMENTS</a:t>
            </a:r>
            <a:br/>
            <a:br/>
            <a:r>
              <a:t>## Steps:</a:t>
            </a:r>
            <a:br/>
            <a:r>
              <a:t>1. Read the event plan JSON at $ARGUMENTS</a:t>
            </a:r>
            <a:br/>
            <a:r>
              <a:t>2. Read data/speakers.json for speaker availability</a:t>
            </a:r>
            <a:br/>
            <a:r>
              <a:t>3. Fit talks into time slots respecting availability</a:t>
            </a:r>
            <a:br/>
            <a:r>
              <a:t>4. Add breaks every 90 minutes</a:t>
            </a:r>
            <a:br/>
            <a:r>
              <a:t>5. Output markdown table + JSON to schedules/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CA3B4"/>
                </a:solidFill>
                <a:latin typeface="Arial"/>
              </a:defRPr>
            </a:pPr>
            <a:r>
              <a:t>Usage: /build-schedule events/rag-pipelines.json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CF4"/>
                </a:solidFill>
                <a:latin typeface="Arial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38BA8"/>
                </a:solidFill>
                <a:latin typeface="Arial"/>
              </a:defRPr>
            </a:pPr>
            <a:r>
              <a:t>Don't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Skip INITIAL.md and go straight to coding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Write vague EXAMPLES — point to specific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Expect perfection on the first PRP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Do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242316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Review the PRP before executing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329184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154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Include OTHER CONSIDERATIONS — that's where edge cases live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160520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8ECF4"/>
                </a:solidFill>
                <a:latin typeface="Arial"/>
              </a:defRPr>
            </a:pPr>
            <a:r>
              <a:t>Add more examples to improve output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 i="0">
                <a:solidFill>
                  <a:srgbClr val="E8853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E8ECF4"/>
                </a:solidFill>
                <a:latin typeface="Arial"/>
              </a:defRPr>
            </a:pPr>
            <a:r>
              <a:t>Build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CA3B4"/>
                </a:solidFill>
                <a:latin typeface="Arial"/>
              </a:defRPr>
            </a:pPr>
            <a:r>
              <a:t>Build the comms and scheduling pipeline via PRP — about 40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INITIAL.md with a complete feature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8094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Generated PRP saved in PRPs/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9592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/build-schedule, /draft-announcement, /draft-speaker-outreach all working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109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73752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All commands consume JSON from the previous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2589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88736"/>
            <a:ext cx="10515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CF4"/>
                </a:solidFill>
                <a:latin typeface="Arial"/>
              </a:defRPr>
            </a:pPr>
            <a:r>
              <a:t>Pipeline runs end-to-end on a fresh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E8ECF4"/>
                </a:solidFill>
                <a:latin typeface="Arial"/>
              </a:defRPr>
            </a:pPr>
            <a:r>
              <a:t>Session 3 — Subagents &amp;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A3B4"/>
                </a:solidFill>
                <a:latin typeface="Arial"/>
              </a:defRPr>
            </a:pPr>
            <a:r>
              <a:t>Specialists beat generalists. From solo performer to coordinated team.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E8ECF4"/>
                </a:solidFill>
                <a:latin typeface="Arial"/>
              </a:defRPr>
            </a:pPr>
            <a:r>
              <a:t>Three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76218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Context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Complete blueprints beat clever wording. Give the AI everything it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645920"/>
            <a:ext cx="3576218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INITIAL → PRP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749039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Describe WHAT you want. Generate HOW to build it. Execute the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645920"/>
            <a:ext cx="3576218" cy="420624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645920"/>
            <a:ext cx="3576218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56032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CF4"/>
                </a:solidFill>
                <a:latin typeface="Arial"/>
              </a:defRPr>
            </a:pPr>
            <a:r>
              <a:t>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3749039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CA3B4"/>
                </a:solidFill>
                <a:latin typeface="Arial"/>
              </a:defRPr>
            </a:pPr>
            <a:r>
              <a:t>Structured JSON enables real workflows — not just one-off prompts.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CA3B4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