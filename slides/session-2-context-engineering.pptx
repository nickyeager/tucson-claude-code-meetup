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E8ECF4"/>
                </a:solidFill>
                <a:latin typeface="Inter"/>
              </a:defRPr>
            </a:pPr>
            <a:r>
              <a:t>Building AI Agents with 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6289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E8853D"/>
                </a:solidFill>
                <a:latin typeface="Inter"/>
              </a:defRPr>
            </a:pPr>
            <a:r>
              <a:t>Session 2: Context Engineering — Blueprints Beat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28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0">
                <a:solidFill>
                  <a:srgbClr val="9CA3B4"/>
                </a:solidFill>
                <a:latin typeface="Inter"/>
              </a:defRPr>
            </a:pPr>
            <a:r>
              <a:t>From one-off prompts to reusable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628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E8ECF4"/>
                </a:solidFill>
                <a:latin typeface="Inter"/>
              </a:defRPr>
            </a:pPr>
            <a:r>
              <a:t>Nick Yeager — AI Solutions Architect / nickcyeager.com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3628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9CA3B4"/>
                </a:solidFill>
                <a:latin typeface="Inter"/>
              </a:defRPr>
            </a:pPr>
            <a:r>
              <a:t>Tucson Claude Code Meetup  |  github.com/ai-trailblazers/tucson-claude-code-meetup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Recap — Where We Left 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828800" cy="54864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E8853D"/>
                </a:solidFill>
                <a:latin typeface="Inter"/>
              </a:defRPr>
            </a:pPr>
            <a:r>
              <a:t>You have: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8483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A git repo with CLAUDE.md defining your agent’s personality and schemas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4203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/plan-event that generates structured JSON event plans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9923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26080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ngrok AI Gateway connected and routing traffic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45643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83280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Sample venue and speaker data in data/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8912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5B9CF5"/>
                </a:solidFill>
                <a:latin typeface="Inter"/>
              </a:defRPr>
            </a:pPr>
            <a:r>
              <a:t>Today: You’ll build the comms and scheduling system using a completely different approach.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Today’s Goal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828800" cy="54864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E8853D"/>
                </a:solidFill>
                <a:latin typeface="Inter"/>
              </a:defRPr>
            </a:pPr>
            <a:r>
              <a:t>Session 2 Milestone: A pipeline where /plan-event feeds into /build-schedule and /draft-announcement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E8ECF4"/>
                </a:solidFill>
                <a:latin typeface="Inter"/>
              </a:defRPr>
            </a:pPr>
            <a:r>
              <a:t>You’ll learn: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3347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Context engineering vs. prompt engineering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09067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INITIAL.md — feature requests that actually work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54787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PRPs — implementation blueprints with validation gates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00507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Composable slash commands that feed into each other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46227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The examples/ folder trick — show, don’t describe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The Core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828800" cy="54864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E8853D"/>
                </a:solidFill>
                <a:latin typeface="Inter"/>
              </a:defRPr>
            </a:pPr>
            <a:r>
              <a:t>Why do AI agents fail?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E8ECF4"/>
                </a:solidFill>
                <a:latin typeface="Inter"/>
              </a:defRPr>
            </a:pPr>
            <a:r>
              <a:t>Most agent failures aren’t model failures.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E8853D"/>
                </a:solidFill>
                <a:latin typeface="Inter"/>
              </a:defRPr>
            </a:pPr>
            <a:r>
              <a:t>They’re context failures.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9CA3B4"/>
                </a:solidFill>
                <a:latin typeface="Inter"/>
              </a:defRPr>
            </a:pPr>
            <a:r>
              <a:t>The AI was smart enough. It just didn’t have the right information.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00507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Wrong output format? It didn’t know the schema.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46227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89120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Missed a constraint? Nobody told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91947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46320"/>
            <a:ext cx="9601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Generic tone? No examples to match against.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E8853D"/>
                </a:solidFill>
                <a:latin typeface="Inter"/>
              </a:defRPr>
            </a:pPr>
            <a:r>
              <a:t>The model isn’t the bottleneck. Your context 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You’ve Already Seen This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853D"/>
                </a:solidFill>
                <a:latin typeface="Inter"/>
              </a:defRPr>
            </a:pPr>
            <a:r>
              <a:t>“Design Slop” — what AI output looks like without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2743200" cy="54864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Inter"/>
              </a:defRPr>
            </a:pPr>
            <a:r>
              <a:t>A recent analysis of 500 Show HN sites found 67% used 2+ identical AI design patterns: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92024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640080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8853D"/>
                          </a:solidFill>
                          <a:latin typeface="Inter"/>
                        </a:defRPr>
                      </a:pPr>
                      <a:r>
                        <a:t>Pattern</a:t>
                      </a:r>
                    </a:p>
                  </a:txBody>
                  <a:tcPr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8853D"/>
                          </a:solidFill>
                          <a:latin typeface="Inter"/>
                        </a:defRPr>
                      </a:pPr>
                      <a:r>
                        <a:t>What It Looks Like</a:t>
                      </a:r>
                    </a:p>
                  </a:txBody>
                  <a:tcPr>
                    <a:solidFill>
                      <a:srgbClr val="1A20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8ECF4"/>
                          </a:solidFill>
                          <a:latin typeface="Inter"/>
                        </a:defRPr>
                      </a:pPr>
                      <a:r>
                        <a:t>Inter font, centered hero</a:t>
                      </a:r>
                    </a:p>
                  </a:txBody>
                  <a:tcPr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8ECF4"/>
                          </a:solidFill>
                          <a:latin typeface="Inter"/>
                        </a:defRPr>
                      </a:pPr>
                      <a:r>
                        <a:t>Every site has the same headline layout</a:t>
                      </a:r>
                    </a:p>
                  </a:txBody>
                  <a:tcPr>
                    <a:solidFill>
                      <a:srgbClr val="1A20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8ECF4"/>
                          </a:solidFill>
                          <a:latin typeface="Inter"/>
                        </a:defRPr>
                      </a:pPr>
                      <a:r>
                        <a:t>"VibeCode Purple" palette</a:t>
                      </a:r>
                    </a:p>
                  </a:txBody>
                  <a:tcPr>
                    <a:solidFill>
                      <a:srgbClr val="22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8ECF4"/>
                          </a:solidFill>
                          <a:latin typeface="Inter"/>
                        </a:defRPr>
                      </a:pPr>
                      <a:r>
                        <a:t>Same gradient, same dark mode, same grey text</a:t>
                      </a:r>
                    </a:p>
                  </a:txBody>
                  <a:tcPr>
                    <a:solidFill>
                      <a:srgbClr val="222A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8ECF4"/>
                          </a:solidFill>
                          <a:latin typeface="Inter"/>
                        </a:defRPr>
                      </a:pPr>
                      <a:r>
                        <a:t>shadcn/ui cards with icon tops</a:t>
                      </a:r>
                    </a:p>
                  </a:txBody>
                  <a:tcPr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8ECF4"/>
                          </a:solidFill>
                          <a:latin typeface="Inter"/>
                        </a:defRPr>
                      </a:pPr>
                      <a:r>
                        <a:t>Identical feature grids, numbered steps</a:t>
                      </a:r>
                    </a:p>
                  </a:txBody>
                  <a:tcPr>
                    <a:solidFill>
                      <a:srgbClr val="1A20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8ECF4"/>
                          </a:solidFill>
                          <a:latin typeface="Inter"/>
                        </a:defRPr>
                      </a:pPr>
                      <a:r>
                        <a:t>Uppercase badges above headings</a:t>
                      </a:r>
                    </a:p>
                  </a:txBody>
                  <a:tcPr>
                    <a:solidFill>
                      <a:srgbClr val="222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8ECF4"/>
                          </a:solidFill>
                          <a:latin typeface="Inter"/>
                        </a:defRPr>
                      </a:pPr>
                      <a:r>
                        <a:t>INTRODUCING on every landing page</a:t>
                      </a:r>
                    </a:p>
                  </a:txBody>
                  <a:tcPr>
                    <a:solidFill>
                      <a:srgbClr val="222A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8ECF4"/>
                          </a:solidFill>
                          <a:latin typeface="Inter"/>
                        </a:defRPr>
                      </a:pPr>
                      <a:r>
                        <a:t>Glassmorphism + gradient shadows</a:t>
                      </a:r>
                    </a:p>
                  </a:txBody>
                  <a:tcPr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8ECF4"/>
                          </a:solidFill>
                          <a:latin typeface="Inter"/>
                        </a:defRPr>
                      </a:pPr>
                      <a:r>
                        <a:t>Same blurry card effect, everywhere</a:t>
                      </a:r>
                    </a:p>
                  </a:txBody>
                  <a:tcPr>
                    <a:solidFill>
                      <a:srgbClr val="1A203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20624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E8ECF4"/>
                </a:solidFill>
                <a:latin typeface="Inter"/>
              </a:defRPr>
            </a:pPr>
            <a:r>
              <a:t>These sites aren’t bad. They’re just identical.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6344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The AI wasn’t broken — it had no examples, no brand, no constraints.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2064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E8853D"/>
                </a:solidFill>
                <a:latin typeface="Inter"/>
              </a:defRPr>
            </a:pPr>
            <a:r>
              <a:t>This is exactly what happens to agent output. No context = generic results.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9CA3B4"/>
                </a:solidFill>
                <a:latin typeface="Inter"/>
              </a:defRPr>
            </a:pPr>
            <a:r>
              <a:t>Source: Adrian Krebs, "Design Slop" — scoring AI design markers across Show HN submissions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Prompt Engineering vs Context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6576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4206240" y="1645920"/>
            <a:ext cx="36576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79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Prompt Engineering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0" y="1645920"/>
            <a:ext cx="36576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Context Engineering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488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Approach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10312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21488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Clever wording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210312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21488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Complete system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560320"/>
            <a:ext cx="3657600" cy="4572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6060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Analogy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2560320"/>
            <a:ext cx="3657600" cy="4572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79" y="26060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Sticky note on a desk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63840" y="2560320"/>
            <a:ext cx="3657600" cy="4572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79" y="26060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Full screenplay with stage directions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01752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What you give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301752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79" y="30632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"Write a good email"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301752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79" y="30632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Schema + examples + rules + tone guide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474720"/>
            <a:ext cx="3657600" cy="4572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204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Strategy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3474720"/>
            <a:ext cx="3657600" cy="4572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79" y="35204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Hopes AI guesses right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0" y="3474720"/>
            <a:ext cx="3657600" cy="4572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79" y="35204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Gives AI everything it needs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93192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9776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Failure mode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6240" y="393192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97679" y="39776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"Why didn't it know X?"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63840" y="393192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55279" y="39776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"I forgot to include X"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389120"/>
            <a:ext cx="3657600" cy="4572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4348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Scalability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06240" y="4389120"/>
            <a:ext cx="3657600" cy="4572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97679" y="44348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Breaks at complexity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63840" y="4389120"/>
            <a:ext cx="3657600" cy="4572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5279" y="44348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Scales with structure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853D"/>
                </a:solidFill>
                <a:latin typeface="Inter"/>
              </a:defRPr>
            </a:pPr>
            <a:r>
              <a:t>Key insight: Context engineering makes it your responsibility, not the model's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E8853D"/>
                </a:solidFill>
                <a:latin typeface="Inter"/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01168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CA3B4"/>
                </a:solidFill>
                <a:latin typeface="Inter"/>
              </a:defRPr>
            </a:pPr>
            <a:r>
              <a:t>Same task, two approaches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8BA8"/>
                </a:solidFill>
                <a:latin typeface="Inter"/>
              </a:defRPr>
            </a:pPr>
            <a:r>
              <a:t>Prompt 1 (prompt engineering):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5029200" cy="8229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611879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B4"/>
                </a:solidFill>
                <a:latin typeface="JetBrains Mono"/>
              </a:defRPr>
            </a:pPr>
            <a:r>
              <a:t>Write an announcement email</a:t>
            </a:r>
            <a:br/>
            <a:r>
              <a:t>for a RAG meetup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6C495"/>
                </a:solidFill>
                <a:latin typeface="Inter"/>
              </a:defRPr>
            </a:pPr>
            <a:r>
              <a:t>Prompt 2 (context engineering):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3474720"/>
            <a:ext cx="5029200" cy="16459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611879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B4"/>
                </a:solidFill>
                <a:latin typeface="JetBrains Mono"/>
              </a:defRPr>
            </a:pPr>
            <a:r>
              <a:t>Read the event plan at events/...</a:t>
            </a:r>
            <a:br/>
            <a:r>
              <a:t>Read data/speakers.json for bios</a:t>
            </a:r>
            <a:br/>
            <a:r>
              <a:t>Read examples/ for format</a:t>
            </a:r>
            <a:br/>
            <a:r>
              <a:t>Write email, &lt;200 words, include</a:t>
            </a:r>
            <a:br/>
            <a:r>
              <a:t>date, venue, speaker highlights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8853D"/>
                </a:solidFill>
                <a:latin typeface="Inter"/>
              </a:defRPr>
            </a:pPr>
            <a:r>
              <a:t>Watch the quality difference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The Context Engineering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10972800" cy="292608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0607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B4"/>
                </a:solidFill>
                <a:latin typeface="JetBrains Mono"/>
              </a:defRPr>
            </a:pPr>
            <a:r>
              <a:t>Layer                  Purpose</a:t>
            </a:r>
            <a:br/>
            <a:r>
              <a:t>─────────────────────  ──────────────────────────────────</a:t>
            </a:r>
            <a:br/>
            <a:r>
              <a:t>CLAUDE.md              Always-on rules (personality, schemas)</a:t>
            </a:r>
            <a:br/>
            <a:r>
              <a:t>examples/              Reference outputs the AI mimics</a:t>
            </a:r>
            <a:br/>
            <a:r>
              <a:t>data/                  Real information to work with</a:t>
            </a:r>
            <a:br/>
            <a:r>
              <a:t>INITIAL.md             Feature spec (what to build)</a:t>
            </a:r>
            <a:br/>
            <a:r>
              <a:t>PRPs/                  Implementation blueprint (how to build)</a:t>
            </a:r>
            <a:br/>
            <a:r>
              <a:t>.claude/commands/      Reusable workflows (composable tools)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853D"/>
                </a:solidFill>
                <a:latin typeface="Inter"/>
              </a:defRPr>
            </a:pPr>
            <a:r>
              <a:t>Each layer adds context. More context = better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94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Think of it as building a briefing packet, not writing a prompt.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INITIAL.md — The Feature Request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CA3B4"/>
                </a:solidFill>
                <a:latin typeface="Inter"/>
              </a:defRPr>
            </a:pPr>
            <a:r>
              <a:t>A structured feature request with four sections: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7315200" cy="32004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40279"/>
            <a:ext cx="6949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B4"/>
                </a:solidFill>
                <a:latin typeface="JetBrains Mono"/>
              </a:defRPr>
            </a:pPr>
            <a:r>
              <a:t>## FEATURE:</a:t>
            </a:r>
            <a:br/>
            <a:r>
              <a:t>What to build — inputs, outputs, behavior</a:t>
            </a:r>
            <a:br/>
            <a:br/>
            <a:r>
              <a:t>## EXAMPLES:</a:t>
            </a:r>
            <a:br/>
            <a:r>
              <a:t>Files to learn from — point to actual files</a:t>
            </a:r>
            <a:br/>
            <a:br/>
            <a:r>
              <a:t>## DOCUMENTATION:</a:t>
            </a:r>
            <a:br/>
            <a:r>
              <a:t>APIs, schemas, constraints — the rules</a:t>
            </a:r>
            <a:br/>
            <a:br/>
            <a:r>
              <a:t>## OTHER CONSIDERATIONS:</a:t>
            </a:r>
            <a:br/>
            <a:r>
              <a:t>Gotchas, edge cases, integration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853D"/>
                </a:solidFill>
                <a:latin typeface="Inter"/>
              </a:defRPr>
            </a:pPr>
            <a:r>
              <a:t>This replaces vague Slack messages with an engineering spec.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Good vs Bad Feature Requests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38BA8"/>
                </a:solidFill>
                <a:latin typeface="Inter"/>
              </a:defRPr>
            </a:pPr>
            <a:r>
              <a:t>Bad: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5029200" cy="5486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B4"/>
                </a:solidFill>
                <a:latin typeface="JetBrains Mono"/>
              </a:defRPr>
            </a:pPr>
            <a:r>
              <a:t>Build a scheduling system for meetups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6C495"/>
                </a:solidFill>
                <a:latin typeface="Inter"/>
              </a:defRPr>
            </a:pPr>
            <a:r>
              <a:t>Good: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337560"/>
            <a:ext cx="6949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B4"/>
                </a:solidFill>
                <a:latin typeface="JetBrains Mono"/>
              </a:defRPr>
            </a:pPr>
            <a:r>
              <a:t>Build a scheduling system that reads event plan</a:t>
            </a:r>
            <a:br/>
            <a:r>
              <a:t>JSON from /plan-event output, fits talks into</a:t>
            </a:r>
            <a:br/>
            <a:r>
              <a:t>time slots using speaker availability from</a:t>
            </a:r>
            <a:br/>
            <a:r>
              <a:t>data/speakers.json, adds breaks every 90 min,</a:t>
            </a:r>
            <a:br/>
            <a:r>
              <a:t>and outputs both markdown and JSON.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029200"/>
            <a:ext cx="54864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Bad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5029200"/>
            <a:ext cx="54864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79" y="5074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Good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39496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4406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No data sources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539496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79" y="54406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Points to specific files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76072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806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No constraints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576072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79" y="5806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Break intervals, availability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12648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1722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No output format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612648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79" y="61722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Markdown + 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49224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53795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Ambiguous scope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649224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79" y="653795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Reads from, outputs 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853D"/>
                </a:solidFill>
                <a:latin typeface="Inter"/>
              </a:defRPr>
            </a:pPr>
            <a:r>
              <a:t>Specific &gt; Vague. Always.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PRPs — Implementation Blueprints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B9CF5"/>
                </a:solidFill>
                <a:latin typeface="Inter"/>
              </a:defRPr>
            </a:pPr>
            <a:r>
              <a:t>PRP = Product Requirements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Like a PRD, but designed for AI coding assistants: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97479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Complete context — everything the AI needs to know, in one file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28999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9183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Step-by-step implementation plan — ordered tasks with dependencies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1605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Validation gates — tests and checks that must pass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8920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754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Error handling patterns — what to do when things go wrong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853D"/>
                </a:solidFill>
                <a:latin typeface="Inter"/>
              </a:defRPr>
            </a:pPr>
            <a:r>
              <a:t>You write the WHAT. The PRP figures out the HOW.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The PRP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10972800" cy="201168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B4"/>
                </a:solidFill>
                <a:latin typeface="JetBrains Mono"/>
              </a:defRPr>
            </a:pPr>
            <a:r>
              <a:t>INITIAL.md --&gt; /generate-prp --&gt; PRPs/meetup-comms.md --&gt; /execute-prp --&gt; Working code</a:t>
            </a:r>
            <a:br/>
            <a:r>
              <a:t>    ^                                 ^</a:t>
            </a:r>
            <a:br/>
            <a:r>
              <a:t>    |                                 |</a:t>
            </a:r>
            <a:br/>
            <a:r>
              <a:t> You write this              Claude researches your</a:t>
            </a:r>
            <a:br/>
            <a:r>
              <a:t> (the WHAT)                  codebase and builds this</a:t>
            </a:r>
            <a:br/>
            <a:r>
              <a:t>                             (the HOW)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6908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You describe the feature in INITIAL.md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177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8055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/generate-prp reads your codebase, analyzes patterns, generates a blueprint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1663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29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You review the PRP (catch misunderstandings early!)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71500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5778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/execute-prp follows the blueprint step by step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2636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61264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Working, tested code comes out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E8853D"/>
                </a:solidFill>
                <a:latin typeface="Inter"/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1031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CA3B4"/>
                </a:solidFill>
                <a:latin typeface="JetBrains Mono"/>
              </a:defRPr>
            </a:pPr>
            <a:r>
              <a:t>/generate-prp INITIAL.md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3375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Read the feature request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776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Analyze existing code (CLAUDE.md, commands, data files)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177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805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Research patterns from examples/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25780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Generate a comprehensive blueprint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853D"/>
                </a:solidFill>
                <a:latin typeface="Inter"/>
              </a:defRPr>
            </a:pPr>
            <a:r>
              <a:t>Review the PRP: Does it understand data flow? Constraints? Validation?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E8853D"/>
                </a:solidFill>
                <a:latin typeface="Inter"/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1031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CA3B4"/>
                </a:solidFill>
                <a:latin typeface="JetBrains Mono"/>
              </a:defRPr>
            </a:pPr>
            <a:r>
              <a:t>/execute-prp PRPs/meetup-comms.md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3375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Read the full PRP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88620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Create .claude/commands/build-schedule.md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348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Create .claude/commands/draft-announcement.md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98348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46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Create .claude/commands/draft-speaker-outreach.md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5321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949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Validate against the event plan schema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853D"/>
                </a:solidFill>
                <a:latin typeface="Inter"/>
              </a:defRPr>
            </a:pPr>
            <a:r>
              <a:t>Claude isn't guessing. It's following a blueprint you reviewed first.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The Examples/ Folder Trick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6C495"/>
                </a:solidFill>
                <a:latin typeface="Inter"/>
              </a:defRPr>
            </a:pPr>
            <a:r>
              <a:t>More examples = dramatically better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9144000" cy="14630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40279"/>
            <a:ext cx="8778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B4"/>
                </a:solidFill>
                <a:latin typeface="JetBrains Mono"/>
              </a:defRPr>
            </a:pPr>
            <a:r>
              <a:t>examples/</a:t>
            </a:r>
            <a:br/>
            <a:r>
              <a:t>  sample-event-plan.json     "Make output look like this"</a:t>
            </a:r>
            <a:br/>
            <a:r>
              <a:t>  sample-announcement.md     "Match this tone and format"</a:t>
            </a:r>
            <a:br/>
            <a:r>
              <a:t>  sample-schedule.md         "Follow this structure"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9776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40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Want a specific JSON schema? Show a sample file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6177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805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Want a particular email tone? Include a real example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25780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Want consistent formatting? Provide a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8853D"/>
                </a:solidFill>
                <a:latin typeface="Inter"/>
              </a:defRPr>
            </a:pPr>
            <a:r>
              <a:t>Show it. Don't describe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B4"/>
                </a:solidFill>
                <a:latin typeface="Inter"/>
              </a:defRPr>
            </a:pPr>
            <a:r>
              <a:t>Remember the design slop sites? They all look the same because the AI had zero examples. Your examples/ folder is the fix.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Composable Slash Commands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CA3B4"/>
                </a:solidFill>
                <a:latin typeface="Inter"/>
              </a:defRPr>
            </a:pPr>
            <a:r>
              <a:t>Commands that feed into each other: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9144000" cy="2560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40279"/>
            <a:ext cx="8778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B4"/>
                </a:solidFill>
                <a:latin typeface="JetBrains Mono"/>
              </a:defRPr>
            </a:pPr>
            <a:r>
              <a:t>/plan-event "RAG pipelines"</a:t>
            </a:r>
            <a:br/>
            <a:r>
              <a:t>    --&gt; outputs events/rag-pipelines.json</a:t>
            </a:r>
            <a:br/>
            <a:br/>
            <a:r>
              <a:t>/build-schedule events/rag-pipelines.json</a:t>
            </a:r>
            <a:br/>
            <a:r>
              <a:t>    --&gt; outputs schedules/rag-pipelines.md + .json</a:t>
            </a:r>
            <a:br/>
            <a:br/>
            <a:r>
              <a:t>/draft-announcement events/rag-pipelines.json</a:t>
            </a:r>
            <a:br/>
            <a:r>
              <a:t>    --&gt; outputs comms/rag-pipelines-announcement.md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853D"/>
                </a:solidFill>
                <a:latin typeface="Inter"/>
              </a:defRPr>
            </a:pPr>
            <a:r>
              <a:t>This is why JSON schemas matter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5321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3949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Predictable format = reliable piping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893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852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Schema in CLAUDE.md = every command knows the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309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Structured &gt; freeform for agent-to-agent communication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$ARGUMENTS in Slash Commands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B9CF5"/>
                </a:solidFill>
                <a:latin typeface="JetBrains Mono"/>
              </a:defRPr>
            </a:pPr>
            <a:r>
              <a:t>.claude/commands/build-schedule.md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9144000" cy="2560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8778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B4"/>
                </a:solidFill>
                <a:latin typeface="JetBrains Mono"/>
              </a:defRPr>
            </a:pPr>
            <a:r>
              <a:t>Build a detailed schedule for the event plan at: $ARGUMENTS</a:t>
            </a:r>
            <a:br/>
            <a:br/>
            <a:r>
              <a:t>## Steps:</a:t>
            </a:r>
            <a:br/>
            <a:r>
              <a:t>1. Read the event plan JSON at $ARGUMENTS</a:t>
            </a:r>
            <a:br/>
            <a:r>
              <a:t>2. Read data/speakers.json for speaker availability</a:t>
            </a:r>
            <a:br/>
            <a:r>
              <a:t>3. Fit talks into time slots respecting availability</a:t>
            </a:r>
            <a:br/>
            <a:r>
              <a:t>4. Add breaks every 90 minutes</a:t>
            </a:r>
            <a:br/>
            <a:r>
              <a:t>5. Output markdown table to schedules/ and JSON to schedules/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ECF4"/>
                </a:solidFill>
                <a:latin typeface="Inter"/>
              </a:defRPr>
            </a:pPr>
            <a:r>
              <a:t>Usage: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303520"/>
            <a:ext cx="731520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6949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B4"/>
                </a:solidFill>
                <a:latin typeface="JetBrains Mono"/>
              </a:defRPr>
            </a:pPr>
            <a:r>
              <a:t>/build-schedule events/rag-pipelines.json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$ARGUMENTS becomes events/rag-pipelines.json — reusable across events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Tips &amp; Gotchas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54864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6035040" y="1645920"/>
            <a:ext cx="54864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Tip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Don't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14884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79" y="21945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Skip INITIAL.md and go straight to coding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974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651760"/>
            <a:ext cx="54864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79" y="26974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Review the PRP before executing — catch misunderstandings early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5468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Don't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315468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79" y="3200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Write vague EXAMPLES sections — point to specific files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657600"/>
            <a:ext cx="54864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033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Do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3657600"/>
            <a:ext cx="54864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79" y="37033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Include OTHER CONSIDERATIONS — that's where edge cases live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16052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206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Don't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416052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9" y="4206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Expect perfection on the first PRP — iterate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663440"/>
            <a:ext cx="54864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709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663440"/>
            <a:ext cx="54864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79" y="4709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Add more examples to improve output quality over 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853D"/>
                </a:solidFill>
                <a:latin typeface="Inter"/>
              </a:defRPr>
            </a:pPr>
            <a:r>
              <a:t>Biggest mistake: Skipping the review step. A bad PRP executed perfectly = bad code.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E8853D"/>
                </a:solidFill>
                <a:latin typeface="Inter"/>
              </a:defRPr>
            </a:pPr>
            <a:r>
              <a:t>BUILD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01168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CA3B4"/>
                </a:solidFill>
                <a:latin typeface="Inter"/>
              </a:defRPr>
            </a:pPr>
            <a:r>
              <a:t>Build the Comms &amp; Scheduling System via PRP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926080"/>
            <a:ext cx="10972800" cy="5486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B4"/>
                </a:solidFill>
                <a:latin typeface="JetBrains Mono"/>
              </a:defRPr>
            </a:pPr>
            <a:r>
              <a:t>/plan-event --&gt; /build-schedule --&gt; /draft-announcement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6908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CF4"/>
                </a:solidFill>
                <a:latin typeface="Inter"/>
              </a:defRPr>
            </a:pPr>
            <a:r>
              <a:t>Write your INITIAL.md (15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7091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CF4"/>
                </a:solidFill>
                <a:latin typeface="Inter"/>
              </a:defRPr>
            </a:pPr>
            <a:r>
              <a:t>Run /generate-prp and review (10 min)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3492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2120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CF4"/>
                </a:solidFill>
                <a:latin typeface="Inter"/>
              </a:defRPr>
            </a:pPr>
            <a:r>
              <a:t>Run /execute-prp and test (15 min)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8853D"/>
                </a:solidFill>
                <a:latin typeface="Inter"/>
              </a:defRPr>
            </a:pPr>
            <a:r>
              <a:t>Time: ~40 minutes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Checkpoint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659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CF4"/>
                </a:solidFill>
                <a:latin typeface="Inter"/>
              </a:defRPr>
            </a:pPr>
            <a:r>
              <a:t>INITIAL.md with complete feature request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CF4"/>
                </a:solidFill>
                <a:latin typeface="Inter"/>
              </a:defRPr>
            </a:pPr>
            <a:r>
              <a:t>Generated PRP in PRPs/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461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CF4"/>
                </a:solidFill>
                <a:latin typeface="Inter"/>
              </a:defRPr>
            </a:pPr>
            <a:r>
              <a:t>/build-schedule command working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8620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CF4"/>
                </a:solidFill>
                <a:latin typeface="Inter"/>
              </a:defRPr>
            </a:pPr>
            <a:r>
              <a:t>/draft-announcement command working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2628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CF4"/>
                </a:solidFill>
                <a:latin typeface="Inter"/>
              </a:defRPr>
            </a:pPr>
            <a:r>
              <a:t>/draft-speaker-outreach command working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63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29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CF4"/>
                </a:solidFill>
                <a:latin typeface="Inter"/>
              </a:defRPr>
            </a:pPr>
            <a:r>
              <a:t>All commands consuming JSON from previous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853D"/>
                </a:solidFill>
                <a:latin typeface="Inter"/>
              </a:defRPr>
            </a:pPr>
            <a:r>
              <a:t>Quick test: Run the full pipeline end-to-end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What's Next: Session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5B9CF5"/>
                </a:solidFill>
                <a:latin typeface="Inter"/>
              </a:defRPr>
            </a:pPr>
            <a:r>
              <a:t>Subagents &amp; Hooks: Specialists Beat Generalists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51460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Subagents — split into specialists (schedule optimizer, comms reviewer, quality checker)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3375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Hooks — automate quality checks that run on every command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605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The difference between one person doing everything and a team of experts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853D"/>
                </a:solidFill>
                <a:latin typeface="Inter"/>
              </a:defRPr>
            </a:pPr>
            <a:r>
              <a:t>Your MeetupBot will go from a solo performer to a coordinated team.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8ECF4"/>
                </a:solidFill>
                <a:latin typeface="Inter"/>
              </a:defRPr>
            </a:pPr>
            <a:r>
              <a:t>Session 2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CA3B4"/>
                </a:solidFill>
                <a:latin typeface="Inter"/>
              </a:defRPr>
            </a:pPr>
            <a:r>
              <a:t>Three things to remember: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853D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8ECF4"/>
                </a:solidFill>
                <a:latin typeface="Inter"/>
              </a:defRPr>
            </a:pPr>
            <a:r>
              <a:t>Context engineering &gt; prompt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743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Complete blueprints beat clever wording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5B9CF5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657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8ECF4"/>
                </a:solidFill>
                <a:latin typeface="Inter"/>
              </a:defRPr>
            </a:pPr>
            <a:r>
              <a:t>INITIAL.md -&gt; PRP -&gt; Execute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Describe WHAT, generate HOW, execute automatically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56C495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8ECF4"/>
                </a:solidFill>
                <a:latin typeface="Inter"/>
              </a:defRPr>
            </a:pPr>
            <a:r>
              <a:t>Composable commands via structured 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JSON schemas enable data flow between agent capabilities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