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2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E88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17352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 i="0">
                <a:solidFill>
                  <a:srgbClr val="E8ECF4"/>
                </a:solidFill>
                <a:latin typeface="Arial"/>
              </a:defRPr>
            </a:pPr>
            <a:r>
              <a:t>Building AI Agents with Claude Code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3840480"/>
            <a:ext cx="944575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 i="0">
                <a:solidFill>
                  <a:srgbClr val="9CA3B4"/>
                </a:solidFill>
                <a:latin typeface="Arial"/>
              </a:defRPr>
            </a:pPr>
            <a:r>
              <a:t>Session 2 — Context Engineering: Blueprints Beat Prompts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4937760"/>
            <a:ext cx="94457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 i="0">
                <a:solidFill>
                  <a:srgbClr val="E8853D"/>
                </a:solidFill>
                <a:latin typeface="Arial"/>
              </a:defRPr>
            </a:pPr>
            <a:r>
              <a:t>Nick Yeager  ·  AI Solutions Architect  ·  nickcyeager.com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5486400"/>
            <a:ext cx="94457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 i="0">
                <a:solidFill>
                  <a:srgbClr val="9CA3B4"/>
                </a:solidFill>
                <a:latin typeface="Courier New"/>
              </a:defRPr>
            </a:pPr>
            <a:r>
              <a:t>github.com/ai-trailblazers/tucson-claude-code-meetup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2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88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 i="0">
                <a:solidFill>
                  <a:srgbClr val="E8ECF4"/>
                </a:solidFill>
                <a:latin typeface="Arial"/>
              </a:defRPr>
            </a:pPr>
            <a:r>
              <a:t>Where We Left Off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25880"/>
            <a:ext cx="2286000" cy="54864"/>
          </a:xfrm>
          <a:prstGeom prst="rect">
            <a:avLst/>
          </a:prstGeom>
          <a:solidFill>
            <a:srgbClr val="5B9C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1965960"/>
            <a:ext cx="109728" cy="109728"/>
          </a:xfrm>
          <a:prstGeom prst="rect">
            <a:avLst/>
          </a:prstGeom>
          <a:solidFill>
            <a:srgbClr val="E88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82880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 i="0">
                <a:solidFill>
                  <a:srgbClr val="E8ECF4"/>
                </a:solidFill>
                <a:latin typeface="Arial"/>
              </a:defRPr>
            </a:pPr>
            <a:r>
              <a:t>Git repo with CLAUDE.md defining personality and schemas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3017520"/>
            <a:ext cx="109728" cy="109728"/>
          </a:xfrm>
          <a:prstGeom prst="rect">
            <a:avLst/>
          </a:prstGeom>
          <a:solidFill>
            <a:srgbClr val="E88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88036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 i="0">
                <a:solidFill>
                  <a:srgbClr val="E8ECF4"/>
                </a:solidFill>
                <a:latin typeface="Arial"/>
              </a:defRPr>
            </a:pPr>
            <a:r>
              <a:t>/plan-event generates structured JSON event plans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4069080"/>
            <a:ext cx="109728" cy="109728"/>
          </a:xfrm>
          <a:prstGeom prst="rect">
            <a:avLst/>
          </a:prstGeom>
          <a:solidFill>
            <a:srgbClr val="E88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93192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 i="0">
                <a:solidFill>
                  <a:srgbClr val="E8ECF4"/>
                </a:solidFill>
                <a:latin typeface="Arial"/>
              </a:defRPr>
            </a:pPr>
            <a:r>
              <a:t>An LLM provider connected — Claude Code Max, Anthropic API, or ngrok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5120640"/>
            <a:ext cx="109728" cy="109728"/>
          </a:xfrm>
          <a:prstGeom prst="rect">
            <a:avLst/>
          </a:prstGeom>
          <a:solidFill>
            <a:srgbClr val="E88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4983479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 i="0">
                <a:solidFill>
                  <a:srgbClr val="E8ECF4"/>
                </a:solidFill>
                <a:latin typeface="Arial"/>
              </a:defRPr>
            </a:pPr>
            <a:r>
              <a:t>Sample venue and speaker data in data/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0" y="640080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 i="0">
                <a:solidFill>
                  <a:srgbClr val="9CA3B4"/>
                </a:solidFill>
                <a:latin typeface="Arial"/>
              </a:defRPr>
            </a:pPr>
            <a: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2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88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 i="0">
                <a:solidFill>
                  <a:srgbClr val="E8ECF4"/>
                </a:solidFill>
                <a:latin typeface="Arial"/>
              </a:defRPr>
            </a:pPr>
            <a:r>
              <a:t>Today's Goal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25880"/>
            <a:ext cx="2286000" cy="54864"/>
          </a:xfrm>
          <a:prstGeom prst="rect">
            <a:avLst/>
          </a:prstGeom>
          <a:solidFill>
            <a:srgbClr val="5B9C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1965960"/>
            <a:ext cx="109728" cy="109728"/>
          </a:xfrm>
          <a:prstGeom prst="rect">
            <a:avLst/>
          </a:prstGeom>
          <a:solidFill>
            <a:srgbClr val="E88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828800"/>
            <a:ext cx="10515600" cy="8778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 i="0">
                <a:solidFill>
                  <a:srgbClr val="E8ECF4"/>
                </a:solidFill>
                <a:latin typeface="Arial"/>
              </a:defRPr>
            </a:pPr>
            <a:r>
              <a:t>A pipeline: /plan-event → /build-schedule → /draft-announcement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980944"/>
            <a:ext cx="109728" cy="109728"/>
          </a:xfrm>
          <a:prstGeom prst="rect">
            <a:avLst/>
          </a:prstGeom>
          <a:solidFill>
            <a:srgbClr val="E88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843784"/>
            <a:ext cx="10515600" cy="8778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 i="0">
                <a:solidFill>
                  <a:srgbClr val="E8ECF4"/>
                </a:solidFill>
                <a:latin typeface="Arial"/>
              </a:defRPr>
            </a:pPr>
            <a:r>
              <a:t>Context engineering vs. prompt engineering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3995928"/>
            <a:ext cx="109728" cy="109728"/>
          </a:xfrm>
          <a:prstGeom prst="rect">
            <a:avLst/>
          </a:prstGeom>
          <a:solidFill>
            <a:srgbClr val="E88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858768"/>
            <a:ext cx="10515600" cy="8778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 i="0">
                <a:solidFill>
                  <a:srgbClr val="E8ECF4"/>
                </a:solidFill>
                <a:latin typeface="Arial"/>
              </a:defRPr>
            </a:pPr>
            <a:r>
              <a:t>INITIAL.md — feature requests that actually work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5010912"/>
            <a:ext cx="109728" cy="109728"/>
          </a:xfrm>
          <a:prstGeom prst="rect">
            <a:avLst/>
          </a:prstGeom>
          <a:solidFill>
            <a:srgbClr val="E88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4873752"/>
            <a:ext cx="10515600" cy="8778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 i="0">
                <a:solidFill>
                  <a:srgbClr val="E8ECF4"/>
                </a:solidFill>
                <a:latin typeface="Arial"/>
              </a:defRPr>
            </a:pPr>
            <a:r>
              <a:t>PRPs — implementation blueprints with validation gates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6025896"/>
            <a:ext cx="109728" cy="109728"/>
          </a:xfrm>
          <a:prstGeom prst="rect">
            <a:avLst/>
          </a:prstGeom>
          <a:solidFill>
            <a:srgbClr val="E88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5888736"/>
            <a:ext cx="10515600" cy="8778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 i="0">
                <a:solidFill>
                  <a:srgbClr val="E8ECF4"/>
                </a:solidFill>
                <a:latin typeface="Arial"/>
              </a:defRPr>
            </a:pPr>
            <a:r>
              <a:t>Composable slash commands and the examples/ folder trick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0" y="640080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 i="0">
                <a:solidFill>
                  <a:srgbClr val="9CA3B4"/>
                </a:solidFill>
                <a:latin typeface="Arial"/>
              </a:defRPr>
            </a:pPr>
            <a: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2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arallelogram 1"/>
          <p:cNvSpPr/>
          <p:nvPr/>
        </p:nvSpPr>
        <p:spPr>
          <a:xfrm>
            <a:off x="-914400" y="2743200"/>
            <a:ext cx="7315200" cy="4572000"/>
          </a:xfrm>
          <a:prstGeom prst="parallelogram">
            <a:avLst/>
          </a:prstGeom>
          <a:solidFill>
            <a:srgbClr val="E88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Parallelogram 2"/>
          <p:cNvSpPr/>
          <p:nvPr/>
        </p:nvSpPr>
        <p:spPr>
          <a:xfrm>
            <a:off x="-1828800" y="4114800"/>
            <a:ext cx="6400800" cy="3657600"/>
          </a:xfrm>
          <a:prstGeom prst="parallelogram">
            <a:avLst/>
          </a:prstGeom>
          <a:solidFill>
            <a:srgbClr val="5B9C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0" y="1645920"/>
            <a:ext cx="66751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5400" b="1" i="0">
                <a:solidFill>
                  <a:srgbClr val="E8ECF4"/>
                </a:solidFill>
                <a:latin typeface="Arial"/>
              </a:defRPr>
            </a:pPr>
            <a:r>
              <a:t>Most AI failures are context failures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0" y="4206240"/>
            <a:ext cx="6675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200" b="0" i="0">
                <a:solidFill>
                  <a:srgbClr val="9CA3B4"/>
                </a:solidFill>
                <a:latin typeface="Arial"/>
              </a:defRPr>
            </a:pPr>
            <a:r>
              <a:t>The model isn't the bottleneck. Your context is.</a:t>
            </a:r>
          </a:p>
        </p:txBody>
      </p:sp>
      <p:sp>
        <p:nvSpPr>
          <p:cNvPr id="6" name="Right Triangle 5"/>
          <p:cNvSpPr/>
          <p:nvPr/>
        </p:nvSpPr>
        <p:spPr>
          <a:xfrm>
            <a:off x="11277295" y="0"/>
            <a:ext cx="914400" cy="914400"/>
          </a:xfrm>
          <a:prstGeom prst="rtTriangle">
            <a:avLst/>
          </a:prstGeom>
          <a:solidFill>
            <a:srgbClr val="E88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0" y="640080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 i="0">
                <a:solidFill>
                  <a:srgbClr val="9CA3B4"/>
                </a:solidFill>
                <a:latin typeface="Arial"/>
              </a:defRPr>
            </a:pPr>
            <a: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2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88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 i="0">
                <a:solidFill>
                  <a:srgbClr val="E8ECF4"/>
                </a:solidFill>
                <a:latin typeface="Arial"/>
              </a:defRPr>
            </a:pPr>
            <a:r>
              <a:t>67% of AI Sites Look Identical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34440"/>
            <a:ext cx="2286000" cy="54864"/>
          </a:xfrm>
          <a:prstGeom prst="rect">
            <a:avLst/>
          </a:prstGeom>
          <a:solidFill>
            <a:srgbClr val="E88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57200" y="1645920"/>
            <a:ext cx="2613583" cy="4206240"/>
          </a:xfrm>
          <a:prstGeom prst="roundRect">
            <a:avLst/>
          </a:prstGeom>
          <a:solidFill>
            <a:srgbClr val="1A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645920"/>
            <a:ext cx="2613583" cy="91440"/>
          </a:xfrm>
          <a:prstGeom prst="rect">
            <a:avLst/>
          </a:prstGeom>
          <a:solidFill>
            <a:srgbClr val="E88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920240"/>
            <a:ext cx="731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E8853D"/>
                </a:solidFill>
                <a:latin typeface="Arial"/>
              </a:defRPr>
            </a:pPr>
            <a: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560320"/>
            <a:ext cx="2247823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E8ECF4"/>
                </a:solidFill>
                <a:latin typeface="Arial"/>
              </a:defRPr>
            </a:pPr>
            <a:r>
              <a:t>Inter Hero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749039"/>
            <a:ext cx="2247823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9CA3B4"/>
                </a:solidFill>
                <a:latin typeface="Arial"/>
              </a:defRPr>
            </a:pPr>
            <a:r>
              <a:t>Same centered headline layout across hundreds of Show HN sites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45103" y="1645920"/>
            <a:ext cx="2613583" cy="4206240"/>
          </a:xfrm>
          <a:prstGeom prst="roundRect">
            <a:avLst/>
          </a:prstGeom>
          <a:solidFill>
            <a:srgbClr val="1A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345103" y="1645920"/>
            <a:ext cx="2613583" cy="91440"/>
          </a:xfrm>
          <a:prstGeom prst="rect">
            <a:avLst/>
          </a:prstGeom>
          <a:solidFill>
            <a:srgbClr val="5B9C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27983" y="1920240"/>
            <a:ext cx="731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5B9CF5"/>
                </a:solidFill>
                <a:latin typeface="Arial"/>
              </a:defRPr>
            </a:pPr>
            <a: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27983" y="2560320"/>
            <a:ext cx="2247823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E8ECF4"/>
                </a:solidFill>
                <a:latin typeface="Arial"/>
              </a:defRPr>
            </a:pPr>
            <a:r>
              <a:t>Purple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27983" y="3749039"/>
            <a:ext cx="2247823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9CA3B4"/>
                </a:solidFill>
                <a:latin typeface="Arial"/>
              </a:defRPr>
            </a:pPr>
            <a:r>
              <a:t>The 'VibeCode' gradient + dark mode + grey body text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33007" y="1645920"/>
            <a:ext cx="2613583" cy="4206240"/>
          </a:xfrm>
          <a:prstGeom prst="roundRect">
            <a:avLst/>
          </a:prstGeom>
          <a:solidFill>
            <a:srgbClr val="1A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33007" y="1645920"/>
            <a:ext cx="2613583" cy="91440"/>
          </a:xfrm>
          <a:prstGeom prst="rect">
            <a:avLst/>
          </a:prstGeom>
          <a:solidFill>
            <a:srgbClr val="56C4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15887" y="1920240"/>
            <a:ext cx="731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56C495"/>
                </a:solidFill>
                <a:latin typeface="Arial"/>
              </a:defRPr>
            </a:pPr>
            <a: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15887" y="2560320"/>
            <a:ext cx="2247823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E8ECF4"/>
                </a:solidFill>
                <a:latin typeface="Arial"/>
              </a:defRPr>
            </a:pPr>
            <a:r>
              <a:t>Icon Cards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15887" y="3749039"/>
            <a:ext cx="2247823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9CA3B4"/>
                </a:solidFill>
                <a:latin typeface="Arial"/>
              </a:defRPr>
            </a:pPr>
            <a:r>
              <a:t>shadcn feature grids with icons on top — all identical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120911" y="1645920"/>
            <a:ext cx="2613583" cy="4206240"/>
          </a:xfrm>
          <a:prstGeom prst="roundRect">
            <a:avLst/>
          </a:prstGeom>
          <a:solidFill>
            <a:srgbClr val="1A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120911" y="1645920"/>
            <a:ext cx="2613583" cy="91440"/>
          </a:xfrm>
          <a:prstGeom prst="rect">
            <a:avLst/>
          </a:prstGeom>
          <a:solidFill>
            <a:srgbClr val="E88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303791" y="1920240"/>
            <a:ext cx="731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E8853D"/>
                </a:solidFill>
                <a:latin typeface="Arial"/>
              </a:defRPr>
            </a:pPr>
            <a: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03791" y="2560320"/>
            <a:ext cx="2247823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E8ECF4"/>
                </a:solidFill>
                <a:latin typeface="Arial"/>
              </a:defRPr>
            </a:pPr>
            <a:r>
              <a:t>Glass FX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03791" y="3749039"/>
            <a:ext cx="2247823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9CA3B4"/>
                </a:solidFill>
                <a:latin typeface="Arial"/>
              </a:defRPr>
            </a:pPr>
            <a:r>
              <a:t>Blurry cards, same gradient shadows, same rounded corners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430000" y="640080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 i="0">
                <a:solidFill>
                  <a:srgbClr val="9CA3B4"/>
                </a:solidFill>
                <a:latin typeface="Arial"/>
              </a:defRPr>
            </a:pPr>
            <a: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2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E88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 i="0">
                <a:solidFill>
                  <a:srgbClr val="E8ECF4"/>
                </a:solidFill>
                <a:latin typeface="Arial"/>
              </a:defRPr>
            </a:pPr>
            <a:r>
              <a:t>Prompt Engineering vs. Context Engineering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5989320" y="1371600"/>
            <a:ext cx="210312" cy="5029200"/>
          </a:xfrm>
          <a:prstGeom prst="rect">
            <a:avLst/>
          </a:prstGeom>
          <a:solidFill>
            <a:srgbClr val="313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062472" y="1371600"/>
            <a:ext cx="64008" cy="5029200"/>
          </a:xfrm>
          <a:prstGeom prst="rect">
            <a:avLst/>
          </a:prstGeom>
          <a:solidFill>
            <a:srgbClr val="E88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554480"/>
            <a:ext cx="137160" cy="457200"/>
          </a:xfrm>
          <a:prstGeom prst="rect">
            <a:avLst/>
          </a:prstGeom>
          <a:solidFill>
            <a:srgbClr val="F38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50876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F38BA8"/>
                </a:solidFill>
                <a:latin typeface="Arial"/>
              </a:defRPr>
            </a:pPr>
            <a:r>
              <a:t>Prompt Engineering</a:t>
            </a:r>
          </a:p>
        </p:txBody>
      </p:sp>
      <p:sp>
        <p:nvSpPr>
          <p:cNvPr id="8" name="Oval 7"/>
          <p:cNvSpPr/>
          <p:nvPr/>
        </p:nvSpPr>
        <p:spPr>
          <a:xfrm>
            <a:off x="457200" y="2423160"/>
            <a:ext cx="91440" cy="91440"/>
          </a:xfrm>
          <a:prstGeom prst="ellipse">
            <a:avLst/>
          </a:prstGeom>
          <a:solidFill>
            <a:srgbClr val="F38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2286000"/>
            <a:ext cx="5029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 i="0">
                <a:solidFill>
                  <a:srgbClr val="E8ECF4"/>
                </a:solidFill>
                <a:latin typeface="Arial"/>
              </a:defRPr>
            </a:pPr>
            <a:r>
              <a:t>Clever wording, sticky-note approach</a:t>
            </a:r>
          </a:p>
        </p:txBody>
      </p:sp>
      <p:sp>
        <p:nvSpPr>
          <p:cNvPr id="10" name="Oval 9"/>
          <p:cNvSpPr/>
          <p:nvPr/>
        </p:nvSpPr>
        <p:spPr>
          <a:xfrm>
            <a:off x="457200" y="3291840"/>
            <a:ext cx="91440" cy="91440"/>
          </a:xfrm>
          <a:prstGeom prst="ellipse">
            <a:avLst/>
          </a:prstGeom>
          <a:solidFill>
            <a:srgbClr val="F38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3154680"/>
            <a:ext cx="5029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 i="0">
                <a:solidFill>
                  <a:srgbClr val="E8ECF4"/>
                </a:solidFill>
                <a:latin typeface="Arial"/>
              </a:defRPr>
            </a:pPr>
            <a:r>
              <a:t>Hopes the AI guesses right</a:t>
            </a:r>
          </a:p>
        </p:txBody>
      </p:sp>
      <p:sp>
        <p:nvSpPr>
          <p:cNvPr id="12" name="Oval 11"/>
          <p:cNvSpPr/>
          <p:nvPr/>
        </p:nvSpPr>
        <p:spPr>
          <a:xfrm>
            <a:off x="457200" y="4160520"/>
            <a:ext cx="91440" cy="91440"/>
          </a:xfrm>
          <a:prstGeom prst="ellipse">
            <a:avLst/>
          </a:prstGeom>
          <a:solidFill>
            <a:srgbClr val="F38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4023360"/>
            <a:ext cx="5029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 i="0">
                <a:solidFill>
                  <a:srgbClr val="E8ECF4"/>
                </a:solidFill>
                <a:latin typeface="Arial"/>
              </a:defRPr>
            </a:pPr>
            <a:r>
              <a:t>Breaks at complexity</a:t>
            </a:r>
          </a:p>
        </p:txBody>
      </p:sp>
      <p:sp>
        <p:nvSpPr>
          <p:cNvPr id="14" name="Oval 13"/>
          <p:cNvSpPr/>
          <p:nvPr/>
        </p:nvSpPr>
        <p:spPr>
          <a:xfrm>
            <a:off x="457200" y="5029200"/>
            <a:ext cx="91440" cy="91440"/>
          </a:xfrm>
          <a:prstGeom prst="ellipse">
            <a:avLst/>
          </a:prstGeom>
          <a:solidFill>
            <a:srgbClr val="F38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4892040"/>
            <a:ext cx="5029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 i="0">
                <a:solidFill>
                  <a:srgbClr val="E8ECF4"/>
                </a:solidFill>
                <a:latin typeface="Arial"/>
              </a:defRPr>
            </a:pPr>
            <a:r>
              <a:t>Failure: 'Why didn't it know X?'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36792" y="1554480"/>
            <a:ext cx="137160" cy="457200"/>
          </a:xfrm>
          <a:prstGeom prst="rect">
            <a:avLst/>
          </a:prstGeom>
          <a:solidFill>
            <a:srgbClr val="56C4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56832" y="150876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56C495"/>
                </a:solidFill>
                <a:latin typeface="Arial"/>
              </a:defRPr>
            </a:pPr>
            <a:r>
              <a:t>Context Engineering</a:t>
            </a:r>
          </a:p>
        </p:txBody>
      </p:sp>
      <p:sp>
        <p:nvSpPr>
          <p:cNvPr id="18" name="Oval 17"/>
          <p:cNvSpPr/>
          <p:nvPr/>
        </p:nvSpPr>
        <p:spPr>
          <a:xfrm>
            <a:off x="6336792" y="2423160"/>
            <a:ext cx="91440" cy="91440"/>
          </a:xfrm>
          <a:prstGeom prst="ellipse">
            <a:avLst/>
          </a:prstGeom>
          <a:solidFill>
            <a:srgbClr val="56C4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56832" y="2286000"/>
            <a:ext cx="5029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 i="0">
                <a:solidFill>
                  <a:srgbClr val="E8ECF4"/>
                </a:solidFill>
                <a:latin typeface="Arial"/>
              </a:defRPr>
            </a:pPr>
            <a:r>
              <a:t>Complete system, full screenplay</a:t>
            </a:r>
          </a:p>
        </p:txBody>
      </p:sp>
      <p:sp>
        <p:nvSpPr>
          <p:cNvPr id="20" name="Oval 19"/>
          <p:cNvSpPr/>
          <p:nvPr/>
        </p:nvSpPr>
        <p:spPr>
          <a:xfrm>
            <a:off x="6336792" y="3291840"/>
            <a:ext cx="91440" cy="91440"/>
          </a:xfrm>
          <a:prstGeom prst="ellipse">
            <a:avLst/>
          </a:prstGeom>
          <a:solidFill>
            <a:srgbClr val="56C4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56832" y="3154680"/>
            <a:ext cx="5029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 i="0">
                <a:solidFill>
                  <a:srgbClr val="E8ECF4"/>
                </a:solidFill>
                <a:latin typeface="Arial"/>
              </a:defRPr>
            </a:pPr>
            <a:r>
              <a:t>Gives the AI everything it needs</a:t>
            </a:r>
          </a:p>
        </p:txBody>
      </p:sp>
      <p:sp>
        <p:nvSpPr>
          <p:cNvPr id="22" name="Oval 21"/>
          <p:cNvSpPr/>
          <p:nvPr/>
        </p:nvSpPr>
        <p:spPr>
          <a:xfrm>
            <a:off x="6336792" y="4160520"/>
            <a:ext cx="91440" cy="91440"/>
          </a:xfrm>
          <a:prstGeom prst="ellipse">
            <a:avLst/>
          </a:prstGeom>
          <a:solidFill>
            <a:srgbClr val="56C4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56832" y="4023360"/>
            <a:ext cx="5029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 i="0">
                <a:solidFill>
                  <a:srgbClr val="E8ECF4"/>
                </a:solidFill>
                <a:latin typeface="Arial"/>
              </a:defRPr>
            </a:pPr>
            <a:r>
              <a:t>Scales with structure</a:t>
            </a:r>
          </a:p>
        </p:txBody>
      </p:sp>
      <p:sp>
        <p:nvSpPr>
          <p:cNvPr id="24" name="Oval 23"/>
          <p:cNvSpPr/>
          <p:nvPr/>
        </p:nvSpPr>
        <p:spPr>
          <a:xfrm>
            <a:off x="6336792" y="5029200"/>
            <a:ext cx="91440" cy="91440"/>
          </a:xfrm>
          <a:prstGeom prst="ellipse">
            <a:avLst/>
          </a:prstGeom>
          <a:solidFill>
            <a:srgbClr val="56C4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656832" y="4892040"/>
            <a:ext cx="5029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 i="0">
                <a:solidFill>
                  <a:srgbClr val="E8ECF4"/>
                </a:solidFill>
                <a:latin typeface="Arial"/>
              </a:defRPr>
            </a:pPr>
            <a:r>
              <a:t>Failure: 'I forgot to include X'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430000" y="640080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 i="0">
                <a:solidFill>
                  <a:srgbClr val="9CA3B4"/>
                </a:solidFill>
                <a:latin typeface="Arial"/>
              </a:defRPr>
            </a:pPr>
            <a: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2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E88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 i="0">
                <a:solidFill>
                  <a:srgbClr val="E8ECF4"/>
                </a:solidFill>
                <a:latin typeface="Arial"/>
              </a:defRPr>
            </a:pPr>
            <a:r>
              <a:t>Live Demo — Same Task, Two Approaches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989320" y="1371600"/>
            <a:ext cx="210312" cy="5029200"/>
          </a:xfrm>
          <a:prstGeom prst="rect">
            <a:avLst/>
          </a:prstGeom>
          <a:solidFill>
            <a:srgbClr val="313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062472" y="1371600"/>
            <a:ext cx="64008" cy="5029200"/>
          </a:xfrm>
          <a:prstGeom prst="rect">
            <a:avLst/>
          </a:prstGeom>
          <a:solidFill>
            <a:srgbClr val="E88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554480"/>
            <a:ext cx="137160" cy="457200"/>
          </a:xfrm>
          <a:prstGeom prst="rect">
            <a:avLst/>
          </a:prstGeom>
          <a:solidFill>
            <a:srgbClr val="F38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50876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F38BA8"/>
                </a:solidFill>
                <a:latin typeface="Arial"/>
              </a:defRPr>
            </a:pPr>
            <a:r>
              <a:t>Prompt Only</a:t>
            </a:r>
          </a:p>
        </p:txBody>
      </p:sp>
      <p:sp>
        <p:nvSpPr>
          <p:cNvPr id="8" name="Oval 7"/>
          <p:cNvSpPr/>
          <p:nvPr/>
        </p:nvSpPr>
        <p:spPr>
          <a:xfrm>
            <a:off x="457200" y="2423160"/>
            <a:ext cx="91440" cy="91440"/>
          </a:xfrm>
          <a:prstGeom prst="ellipse">
            <a:avLst/>
          </a:prstGeom>
          <a:solidFill>
            <a:srgbClr val="F38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2286000"/>
            <a:ext cx="5029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 i="0">
                <a:solidFill>
                  <a:srgbClr val="E8ECF4"/>
                </a:solidFill>
                <a:latin typeface="Arial"/>
              </a:defRPr>
            </a:pPr>
            <a:r>
              <a:t>'Write an announcement for a RAG meetup'</a:t>
            </a:r>
          </a:p>
        </p:txBody>
      </p:sp>
      <p:sp>
        <p:nvSpPr>
          <p:cNvPr id="10" name="Oval 9"/>
          <p:cNvSpPr/>
          <p:nvPr/>
        </p:nvSpPr>
        <p:spPr>
          <a:xfrm>
            <a:off x="457200" y="3291840"/>
            <a:ext cx="91440" cy="91440"/>
          </a:xfrm>
          <a:prstGeom prst="ellipse">
            <a:avLst/>
          </a:prstGeom>
          <a:solidFill>
            <a:srgbClr val="F38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3154680"/>
            <a:ext cx="5029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 i="0">
                <a:solidFill>
                  <a:srgbClr val="E8ECF4"/>
                </a:solidFill>
                <a:latin typeface="Arial"/>
              </a:defRPr>
            </a:pPr>
            <a:r>
              <a:t>Generic. Made-up details.</a:t>
            </a:r>
          </a:p>
        </p:txBody>
      </p:sp>
      <p:sp>
        <p:nvSpPr>
          <p:cNvPr id="12" name="Oval 11"/>
          <p:cNvSpPr/>
          <p:nvPr/>
        </p:nvSpPr>
        <p:spPr>
          <a:xfrm>
            <a:off x="457200" y="4160520"/>
            <a:ext cx="91440" cy="91440"/>
          </a:xfrm>
          <a:prstGeom prst="ellipse">
            <a:avLst/>
          </a:prstGeom>
          <a:solidFill>
            <a:srgbClr val="F38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4023360"/>
            <a:ext cx="5029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 i="0">
                <a:solidFill>
                  <a:srgbClr val="E8ECF4"/>
                </a:solidFill>
                <a:latin typeface="Arial"/>
              </a:defRPr>
            </a:pPr>
            <a:r>
              <a:t>Bland tone, no specifics.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36792" y="1554480"/>
            <a:ext cx="137160" cy="457200"/>
          </a:xfrm>
          <a:prstGeom prst="rect">
            <a:avLst/>
          </a:prstGeom>
          <a:solidFill>
            <a:srgbClr val="56C4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56832" y="150876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56C495"/>
                </a:solidFill>
                <a:latin typeface="Arial"/>
              </a:defRPr>
            </a:pPr>
            <a:r>
              <a:t>With Context</a:t>
            </a:r>
          </a:p>
        </p:txBody>
      </p:sp>
      <p:sp>
        <p:nvSpPr>
          <p:cNvPr id="16" name="Oval 15"/>
          <p:cNvSpPr/>
          <p:nvPr/>
        </p:nvSpPr>
        <p:spPr>
          <a:xfrm>
            <a:off x="6336792" y="2423160"/>
            <a:ext cx="91440" cy="91440"/>
          </a:xfrm>
          <a:prstGeom prst="ellipse">
            <a:avLst/>
          </a:prstGeom>
          <a:solidFill>
            <a:srgbClr val="56C4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56832" y="2286000"/>
            <a:ext cx="5029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 i="0">
                <a:solidFill>
                  <a:srgbClr val="E8ECF4"/>
                </a:solidFill>
                <a:latin typeface="Arial"/>
              </a:defRPr>
            </a:pPr>
            <a:r>
              <a:t>Read events/building-rag-pipelines.json</a:t>
            </a:r>
          </a:p>
        </p:txBody>
      </p:sp>
      <p:sp>
        <p:nvSpPr>
          <p:cNvPr id="18" name="Oval 17"/>
          <p:cNvSpPr/>
          <p:nvPr/>
        </p:nvSpPr>
        <p:spPr>
          <a:xfrm>
            <a:off x="6336792" y="3291840"/>
            <a:ext cx="91440" cy="91440"/>
          </a:xfrm>
          <a:prstGeom prst="ellipse">
            <a:avLst/>
          </a:prstGeom>
          <a:solidFill>
            <a:srgbClr val="56C4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56832" y="3154680"/>
            <a:ext cx="5029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 i="0">
                <a:solidFill>
                  <a:srgbClr val="E8ECF4"/>
                </a:solidFill>
                <a:latin typeface="Arial"/>
              </a:defRPr>
            </a:pPr>
            <a:r>
              <a:t>Read data/speakers.json for bios</a:t>
            </a:r>
          </a:p>
        </p:txBody>
      </p:sp>
      <p:sp>
        <p:nvSpPr>
          <p:cNvPr id="20" name="Oval 19"/>
          <p:cNvSpPr/>
          <p:nvPr/>
        </p:nvSpPr>
        <p:spPr>
          <a:xfrm>
            <a:off x="6336792" y="4160520"/>
            <a:ext cx="91440" cy="91440"/>
          </a:xfrm>
          <a:prstGeom prst="ellipse">
            <a:avLst/>
          </a:prstGeom>
          <a:solidFill>
            <a:srgbClr val="56C4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56832" y="4023360"/>
            <a:ext cx="5029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 i="0">
                <a:solidFill>
                  <a:srgbClr val="E8ECF4"/>
                </a:solidFill>
                <a:latin typeface="Arial"/>
              </a:defRPr>
            </a:pPr>
            <a:r>
              <a:t>Read examples/sample-event-plan.json</a:t>
            </a:r>
          </a:p>
        </p:txBody>
      </p:sp>
      <p:sp>
        <p:nvSpPr>
          <p:cNvPr id="22" name="Oval 21"/>
          <p:cNvSpPr/>
          <p:nvPr/>
        </p:nvSpPr>
        <p:spPr>
          <a:xfrm>
            <a:off x="6336792" y="5029200"/>
            <a:ext cx="91440" cy="91440"/>
          </a:xfrm>
          <a:prstGeom prst="ellipse">
            <a:avLst/>
          </a:prstGeom>
          <a:solidFill>
            <a:srgbClr val="56C4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56832" y="4892040"/>
            <a:ext cx="5029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 i="0">
                <a:solidFill>
                  <a:srgbClr val="E8ECF4"/>
                </a:solidFill>
                <a:latin typeface="Arial"/>
              </a:defRPr>
            </a:pPr>
            <a:r>
              <a:t>Real names, real date, on-tone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430000" y="640080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 i="0">
                <a:solidFill>
                  <a:srgbClr val="9CA3B4"/>
                </a:solidFill>
                <a:latin typeface="Arial"/>
              </a:defRPr>
            </a:pPr>
            <a: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2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 i="0">
                <a:solidFill>
                  <a:srgbClr val="E8ECF4"/>
                </a:solidFill>
                <a:latin typeface="Arial"/>
              </a:defRPr>
            </a:pPr>
            <a:r>
              <a:t>The Context Engineering Stack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515600" y="1051560"/>
            <a:ext cx="1188720" cy="365760"/>
          </a:xfrm>
          <a:prstGeom prst="roundRect">
            <a:avLst/>
          </a:prstGeom>
          <a:solidFill>
            <a:srgbClr val="E88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0" y="1078992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 i="0">
                <a:solidFill>
                  <a:srgbClr val="0A0D12"/>
                </a:solidFill>
                <a:latin typeface="Courier New"/>
              </a:defRPr>
            </a:pPr>
            <a:r>
              <a:t>STACK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80160"/>
            <a:ext cx="11274552" cy="4389120"/>
          </a:xfrm>
          <a:prstGeom prst="roundRect">
            <a:avLst/>
          </a:prstGeom>
          <a:solidFill>
            <a:srgbClr val="0A0D12"/>
          </a:solidFill>
          <a:ln>
            <a:solidFill>
              <a:srgbClr val="3132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731520" y="1508760"/>
            <a:ext cx="164592" cy="164592"/>
          </a:xfrm>
          <a:prstGeom prst="ellipse">
            <a:avLst/>
          </a:prstGeom>
          <a:solidFill>
            <a:srgbClr val="F38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51560" y="1508760"/>
            <a:ext cx="164592" cy="164592"/>
          </a:xfrm>
          <a:prstGeom prst="ellipse">
            <a:avLst/>
          </a:prstGeom>
          <a:solidFill>
            <a:srgbClr val="F9E2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371600" y="1508760"/>
            <a:ext cx="164592" cy="164592"/>
          </a:xfrm>
          <a:prstGeom prst="ellipse">
            <a:avLst/>
          </a:prstGeom>
          <a:solidFill>
            <a:srgbClr val="A6E3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2011680"/>
            <a:ext cx="10698480" cy="3474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500" b="0" i="0">
                <a:solidFill>
                  <a:srgbClr val="E8ECF4"/>
                </a:solidFill>
                <a:latin typeface="Courier New"/>
              </a:defRPr>
            </a:pPr>
            <a:r>
              <a:t>CLAUDE.md              Always-on rules (personality, schemas)</a:t>
            </a:r>
            <a:br/>
            <a:r>
              <a:t>examples/              Reference outputs the AI mimics</a:t>
            </a:r>
            <a:br/>
            <a:r>
              <a:t>data/                  Real information to work with</a:t>
            </a:r>
            <a:br/>
            <a:r>
              <a:t>INITIAL.md             Feature spec (what to build)</a:t>
            </a:r>
            <a:br/>
            <a:r>
              <a:t>PRPs/                  Implementation blueprint (how to build)</a:t>
            </a:r>
            <a:br/>
            <a:r>
              <a:t>.claude/commands/      Reusable workflows (composable tools)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5852160"/>
            <a:ext cx="1127455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 b="0" i="1">
                <a:solidFill>
                  <a:srgbClr val="9CA3B4"/>
                </a:solidFill>
                <a:latin typeface="Arial"/>
              </a:defRPr>
            </a:pPr>
            <a:r>
              <a:t>Each layer adds context. More context = better results.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20840"/>
            <a:ext cx="12191695" cy="137160"/>
          </a:xfrm>
          <a:prstGeom prst="rect">
            <a:avLst/>
          </a:prstGeom>
          <a:solidFill>
            <a:srgbClr val="5B9C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0" y="640080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 i="0">
                <a:solidFill>
                  <a:srgbClr val="9CA3B4"/>
                </a:solidFill>
                <a:latin typeface="Arial"/>
              </a:defRPr>
            </a:pPr>
            <a: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2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 i="0">
                <a:solidFill>
                  <a:srgbClr val="E8ECF4"/>
                </a:solidFill>
                <a:latin typeface="Arial"/>
              </a:defRPr>
            </a:pPr>
            <a:r>
              <a:t>INITIAL.md — The Feature Request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515600" y="1051560"/>
            <a:ext cx="1188720" cy="365760"/>
          </a:xfrm>
          <a:prstGeom prst="roundRect">
            <a:avLst/>
          </a:prstGeom>
          <a:solidFill>
            <a:srgbClr val="E88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0" y="1078992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 i="0">
                <a:solidFill>
                  <a:srgbClr val="0A0D12"/>
                </a:solidFill>
                <a:latin typeface="Courier New"/>
              </a:defRPr>
            </a:pPr>
            <a:r>
              <a:t>MD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80160"/>
            <a:ext cx="11274552" cy="4389120"/>
          </a:xfrm>
          <a:prstGeom prst="roundRect">
            <a:avLst/>
          </a:prstGeom>
          <a:solidFill>
            <a:srgbClr val="0A0D12"/>
          </a:solidFill>
          <a:ln>
            <a:solidFill>
              <a:srgbClr val="3132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731520" y="1508760"/>
            <a:ext cx="164592" cy="164592"/>
          </a:xfrm>
          <a:prstGeom prst="ellipse">
            <a:avLst/>
          </a:prstGeom>
          <a:solidFill>
            <a:srgbClr val="F38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51560" y="1508760"/>
            <a:ext cx="164592" cy="164592"/>
          </a:xfrm>
          <a:prstGeom prst="ellipse">
            <a:avLst/>
          </a:prstGeom>
          <a:solidFill>
            <a:srgbClr val="F9E2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371600" y="1508760"/>
            <a:ext cx="164592" cy="164592"/>
          </a:xfrm>
          <a:prstGeom prst="ellipse">
            <a:avLst/>
          </a:prstGeom>
          <a:solidFill>
            <a:srgbClr val="A6E3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2011680"/>
            <a:ext cx="10698480" cy="3474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500" b="0" i="0">
                <a:solidFill>
                  <a:srgbClr val="E8ECF4"/>
                </a:solidFill>
                <a:latin typeface="Courier New"/>
              </a:defRPr>
            </a:pPr>
            <a:r>
              <a:t>## FEATURE:</a:t>
            </a:r>
            <a:br/>
            <a:r>
              <a:t>What to build — be specific about inputs, outputs, behavior</a:t>
            </a:r>
            <a:br/>
            <a:br/>
            <a:r>
              <a:t>## EXAMPLES:</a:t>
            </a:r>
            <a:br/>
            <a:r>
              <a:t>Files to learn from — point to actual files in your repo</a:t>
            </a:r>
            <a:br/>
            <a:br/>
            <a:r>
              <a:t>## DOCUMENTATION:</a:t>
            </a:r>
            <a:br/>
            <a:r>
              <a:t>APIs, schemas, constraints — the rules it must follow</a:t>
            </a:r>
            <a:br/>
            <a:br/>
            <a:r>
              <a:t>## OTHER CONSIDERATIONS:</a:t>
            </a:r>
            <a:br/>
            <a:r>
              <a:t>Gotchas, edge cases, integration points — what could go wrong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5852160"/>
            <a:ext cx="1127455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 b="0" i="1">
                <a:solidFill>
                  <a:srgbClr val="9CA3B4"/>
                </a:solidFill>
                <a:latin typeface="Arial"/>
              </a:defRPr>
            </a:pPr>
            <a:r>
              <a:t>Replaces vague Slack messages with an engineering spec.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20840"/>
            <a:ext cx="12191695" cy="137160"/>
          </a:xfrm>
          <a:prstGeom prst="rect">
            <a:avLst/>
          </a:prstGeom>
          <a:solidFill>
            <a:srgbClr val="5B9C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0" y="640080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 i="0">
                <a:solidFill>
                  <a:srgbClr val="9CA3B4"/>
                </a:solidFill>
                <a:latin typeface="Arial"/>
              </a:defRPr>
            </a:pPr>
            <a: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2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E88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 i="0">
                <a:solidFill>
                  <a:srgbClr val="E8ECF4"/>
                </a:solidFill>
                <a:latin typeface="Arial"/>
              </a:defRPr>
            </a:pPr>
            <a:r>
              <a:t>Bad vs. Good Feature Requests</a:t>
            </a:r>
          </a:p>
        </p:txBody>
      </p:sp>
      <p:sp>
        <p:nvSpPr>
          <p:cNvPr id="4" name="Rectangle 3"/>
          <p:cNvSpPr/>
          <p:nvPr/>
        </p:nvSpPr>
        <p:spPr>
          <a:xfrm>
            <a:off x="5989320" y="1371600"/>
            <a:ext cx="210312" cy="5029200"/>
          </a:xfrm>
          <a:prstGeom prst="rect">
            <a:avLst/>
          </a:prstGeom>
          <a:solidFill>
            <a:srgbClr val="313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062472" y="1371600"/>
            <a:ext cx="64008" cy="5029200"/>
          </a:xfrm>
          <a:prstGeom prst="rect">
            <a:avLst/>
          </a:prstGeom>
          <a:solidFill>
            <a:srgbClr val="E88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554480"/>
            <a:ext cx="137160" cy="457200"/>
          </a:xfrm>
          <a:prstGeom prst="rect">
            <a:avLst/>
          </a:prstGeom>
          <a:solidFill>
            <a:srgbClr val="F38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50876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F38BA8"/>
                </a:solidFill>
                <a:latin typeface="Arial"/>
              </a:defRPr>
            </a:pPr>
            <a:r>
              <a:t>Bad</a:t>
            </a:r>
          </a:p>
        </p:txBody>
      </p:sp>
      <p:sp>
        <p:nvSpPr>
          <p:cNvPr id="8" name="Oval 7"/>
          <p:cNvSpPr/>
          <p:nvPr/>
        </p:nvSpPr>
        <p:spPr>
          <a:xfrm>
            <a:off x="457200" y="2423160"/>
            <a:ext cx="91440" cy="91440"/>
          </a:xfrm>
          <a:prstGeom prst="ellipse">
            <a:avLst/>
          </a:prstGeom>
          <a:solidFill>
            <a:srgbClr val="F38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2286000"/>
            <a:ext cx="5029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 i="0">
                <a:solidFill>
                  <a:srgbClr val="E8ECF4"/>
                </a:solidFill>
                <a:latin typeface="Arial"/>
              </a:defRPr>
            </a:pPr>
            <a:r>
              <a:t>'Build a scheduling system for meetups'</a:t>
            </a:r>
          </a:p>
        </p:txBody>
      </p:sp>
      <p:sp>
        <p:nvSpPr>
          <p:cNvPr id="10" name="Oval 9"/>
          <p:cNvSpPr/>
          <p:nvPr/>
        </p:nvSpPr>
        <p:spPr>
          <a:xfrm>
            <a:off x="457200" y="3291840"/>
            <a:ext cx="91440" cy="91440"/>
          </a:xfrm>
          <a:prstGeom prst="ellipse">
            <a:avLst/>
          </a:prstGeom>
          <a:solidFill>
            <a:srgbClr val="F38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3154680"/>
            <a:ext cx="5029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 i="0">
                <a:solidFill>
                  <a:srgbClr val="E8ECF4"/>
                </a:solidFill>
                <a:latin typeface="Arial"/>
              </a:defRPr>
            </a:pPr>
            <a:r>
              <a:t>No data sources</a:t>
            </a:r>
          </a:p>
        </p:txBody>
      </p:sp>
      <p:sp>
        <p:nvSpPr>
          <p:cNvPr id="12" name="Oval 11"/>
          <p:cNvSpPr/>
          <p:nvPr/>
        </p:nvSpPr>
        <p:spPr>
          <a:xfrm>
            <a:off x="457200" y="4160520"/>
            <a:ext cx="91440" cy="91440"/>
          </a:xfrm>
          <a:prstGeom prst="ellipse">
            <a:avLst/>
          </a:prstGeom>
          <a:solidFill>
            <a:srgbClr val="F38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4023360"/>
            <a:ext cx="5029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 i="0">
                <a:solidFill>
                  <a:srgbClr val="E8ECF4"/>
                </a:solidFill>
                <a:latin typeface="Arial"/>
              </a:defRPr>
            </a:pPr>
            <a:r>
              <a:t>No constraints</a:t>
            </a:r>
          </a:p>
        </p:txBody>
      </p:sp>
      <p:sp>
        <p:nvSpPr>
          <p:cNvPr id="14" name="Oval 13"/>
          <p:cNvSpPr/>
          <p:nvPr/>
        </p:nvSpPr>
        <p:spPr>
          <a:xfrm>
            <a:off x="457200" y="5029200"/>
            <a:ext cx="91440" cy="91440"/>
          </a:xfrm>
          <a:prstGeom prst="ellipse">
            <a:avLst/>
          </a:prstGeom>
          <a:solidFill>
            <a:srgbClr val="F38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4892040"/>
            <a:ext cx="5029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 i="0">
                <a:solidFill>
                  <a:srgbClr val="E8ECF4"/>
                </a:solidFill>
                <a:latin typeface="Arial"/>
              </a:defRPr>
            </a:pPr>
            <a:r>
              <a:t>Ambiguous scope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36792" y="1554480"/>
            <a:ext cx="137160" cy="457200"/>
          </a:xfrm>
          <a:prstGeom prst="rect">
            <a:avLst/>
          </a:prstGeom>
          <a:solidFill>
            <a:srgbClr val="56C4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56832" y="150876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56C495"/>
                </a:solidFill>
                <a:latin typeface="Arial"/>
              </a:defRPr>
            </a:pPr>
            <a:r>
              <a:t>Good</a:t>
            </a:r>
          </a:p>
        </p:txBody>
      </p:sp>
      <p:sp>
        <p:nvSpPr>
          <p:cNvPr id="18" name="Oval 17"/>
          <p:cNvSpPr/>
          <p:nvPr/>
        </p:nvSpPr>
        <p:spPr>
          <a:xfrm>
            <a:off x="6336792" y="2423160"/>
            <a:ext cx="91440" cy="91440"/>
          </a:xfrm>
          <a:prstGeom prst="ellipse">
            <a:avLst/>
          </a:prstGeom>
          <a:solidFill>
            <a:srgbClr val="56C4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56832" y="2286000"/>
            <a:ext cx="5029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 i="0">
                <a:solidFill>
                  <a:srgbClr val="E8ECF4"/>
                </a:solidFill>
                <a:latin typeface="Arial"/>
              </a:defRPr>
            </a:pPr>
            <a:r>
              <a:t>Reads event plan JSON from /plan-event</a:t>
            </a:r>
          </a:p>
        </p:txBody>
      </p:sp>
      <p:sp>
        <p:nvSpPr>
          <p:cNvPr id="20" name="Oval 19"/>
          <p:cNvSpPr/>
          <p:nvPr/>
        </p:nvSpPr>
        <p:spPr>
          <a:xfrm>
            <a:off x="6336792" y="3291840"/>
            <a:ext cx="91440" cy="91440"/>
          </a:xfrm>
          <a:prstGeom prst="ellipse">
            <a:avLst/>
          </a:prstGeom>
          <a:solidFill>
            <a:srgbClr val="56C4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56832" y="3154680"/>
            <a:ext cx="5029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 i="0">
                <a:solidFill>
                  <a:srgbClr val="E8ECF4"/>
                </a:solidFill>
                <a:latin typeface="Arial"/>
              </a:defRPr>
            </a:pPr>
            <a:r>
              <a:t>Uses speaker availability from data/speakers.json</a:t>
            </a:r>
          </a:p>
        </p:txBody>
      </p:sp>
      <p:sp>
        <p:nvSpPr>
          <p:cNvPr id="22" name="Oval 21"/>
          <p:cNvSpPr/>
          <p:nvPr/>
        </p:nvSpPr>
        <p:spPr>
          <a:xfrm>
            <a:off x="6336792" y="4160520"/>
            <a:ext cx="91440" cy="91440"/>
          </a:xfrm>
          <a:prstGeom prst="ellipse">
            <a:avLst/>
          </a:prstGeom>
          <a:solidFill>
            <a:srgbClr val="56C4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56832" y="4023360"/>
            <a:ext cx="5029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 i="0">
                <a:solidFill>
                  <a:srgbClr val="E8ECF4"/>
                </a:solidFill>
                <a:latin typeface="Arial"/>
              </a:defRPr>
            </a:pPr>
            <a:r>
              <a:t>Adds breaks every 90 min</a:t>
            </a:r>
          </a:p>
        </p:txBody>
      </p:sp>
      <p:sp>
        <p:nvSpPr>
          <p:cNvPr id="24" name="Oval 23"/>
          <p:cNvSpPr/>
          <p:nvPr/>
        </p:nvSpPr>
        <p:spPr>
          <a:xfrm>
            <a:off x="6336792" y="5029200"/>
            <a:ext cx="91440" cy="91440"/>
          </a:xfrm>
          <a:prstGeom prst="ellipse">
            <a:avLst/>
          </a:prstGeom>
          <a:solidFill>
            <a:srgbClr val="56C4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656832" y="4892040"/>
            <a:ext cx="5029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 i="0">
                <a:solidFill>
                  <a:srgbClr val="E8ECF4"/>
                </a:solidFill>
                <a:latin typeface="Arial"/>
              </a:defRPr>
            </a:pPr>
            <a:r>
              <a:t>Outputs both markdown and JSON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430000" y="640080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 i="0">
                <a:solidFill>
                  <a:srgbClr val="9CA3B4"/>
                </a:solidFill>
                <a:latin typeface="Arial"/>
              </a:defRPr>
            </a:pPr>
            <a: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2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 i="0">
                <a:solidFill>
                  <a:srgbClr val="E8ECF4"/>
                </a:solidFill>
                <a:latin typeface="Arial"/>
              </a:defRPr>
            </a:pPr>
            <a:r>
              <a:t>PRPs — Implementation Blueprints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68680" y="1965960"/>
            <a:ext cx="3840480" cy="3657600"/>
          </a:xfrm>
          <a:prstGeom prst="roundRect">
            <a:avLst/>
          </a:prstGeom>
          <a:solidFill>
            <a:srgbClr val="0709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828800"/>
            <a:ext cx="3840480" cy="3657600"/>
          </a:xfrm>
          <a:prstGeom prst="roundRect">
            <a:avLst/>
          </a:prstGeom>
          <a:solidFill>
            <a:srgbClr val="1A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05840" y="2103120"/>
            <a:ext cx="731520" cy="109728"/>
          </a:xfrm>
          <a:prstGeom prst="rect">
            <a:avLst/>
          </a:prstGeom>
          <a:solidFill>
            <a:srgbClr val="E88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377440"/>
            <a:ext cx="914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 i="0">
                <a:solidFill>
                  <a:srgbClr val="E8853D"/>
                </a:solidFill>
                <a:latin typeface="Arial"/>
              </a:defRPr>
            </a:pPr>
            <a: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3200400"/>
            <a:ext cx="3291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E8ECF4"/>
                </a:solidFill>
                <a:latin typeface="Arial"/>
              </a:defRPr>
            </a:pPr>
            <a:r>
              <a:t>Complete Context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4206240"/>
            <a:ext cx="32918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0">
                <a:solidFill>
                  <a:srgbClr val="9CA3B4"/>
                </a:solidFill>
                <a:latin typeface="Arial"/>
              </a:defRPr>
            </a:pPr>
            <a:r>
              <a:t>Everything the AI needs to know, in one file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51960" y="2331720"/>
            <a:ext cx="3840480" cy="3657600"/>
          </a:xfrm>
          <a:prstGeom prst="roundRect">
            <a:avLst/>
          </a:prstGeom>
          <a:solidFill>
            <a:srgbClr val="0709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114800" y="2194560"/>
            <a:ext cx="3840480" cy="3657600"/>
          </a:xfrm>
          <a:prstGeom prst="roundRect">
            <a:avLst/>
          </a:prstGeom>
          <a:solidFill>
            <a:srgbClr val="22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89120" y="2468879"/>
            <a:ext cx="731520" cy="109728"/>
          </a:xfrm>
          <a:prstGeom prst="rect">
            <a:avLst/>
          </a:prstGeom>
          <a:solidFill>
            <a:srgbClr val="5B9C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89120" y="2743200"/>
            <a:ext cx="914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 i="0">
                <a:solidFill>
                  <a:srgbClr val="5B9CF5"/>
                </a:solidFill>
                <a:latin typeface="Arial"/>
              </a:defRPr>
            </a:pPr>
            <a: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0" y="3566160"/>
            <a:ext cx="3291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E8ECF4"/>
                </a:solidFill>
                <a:latin typeface="Arial"/>
              </a:defRPr>
            </a:pPr>
            <a:r>
              <a:t>Step-by-Step Plan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89120" y="4572000"/>
            <a:ext cx="32918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0">
                <a:solidFill>
                  <a:srgbClr val="9CA3B4"/>
                </a:solidFill>
                <a:latin typeface="Arial"/>
              </a:defRPr>
            </a:pPr>
            <a:r>
              <a:t>Ordered tasks with dependencies and outputs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635240" y="1783080"/>
            <a:ext cx="3840480" cy="3657600"/>
          </a:xfrm>
          <a:prstGeom prst="roundRect">
            <a:avLst/>
          </a:prstGeom>
          <a:solidFill>
            <a:srgbClr val="0709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7498079" y="1645920"/>
            <a:ext cx="3840480" cy="3657600"/>
          </a:xfrm>
          <a:prstGeom prst="roundRect">
            <a:avLst/>
          </a:prstGeom>
          <a:solidFill>
            <a:srgbClr val="1A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772400" y="1920240"/>
            <a:ext cx="731520" cy="109728"/>
          </a:xfrm>
          <a:prstGeom prst="rect">
            <a:avLst/>
          </a:prstGeom>
          <a:solidFill>
            <a:srgbClr val="56C4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0" y="2194560"/>
            <a:ext cx="914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 i="0">
                <a:solidFill>
                  <a:srgbClr val="56C495"/>
                </a:solidFill>
                <a:latin typeface="Arial"/>
              </a:defRPr>
            </a:pPr>
            <a: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0" y="3017520"/>
            <a:ext cx="3291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E8ECF4"/>
                </a:solidFill>
                <a:latin typeface="Arial"/>
              </a:defRPr>
            </a:pPr>
            <a:r>
              <a:t>Validation Gates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0" y="4023360"/>
            <a:ext cx="32918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0">
                <a:solidFill>
                  <a:srgbClr val="9CA3B4"/>
                </a:solidFill>
                <a:latin typeface="Arial"/>
              </a:defRPr>
            </a:pPr>
            <a:r>
              <a:t>Tests and checks that must pass before moving 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430000" y="640080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 i="0">
                <a:solidFill>
                  <a:srgbClr val="9CA3B4"/>
                </a:solidFill>
                <a:latin typeface="Arial"/>
              </a:defRPr>
            </a:pPr>
            <a: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2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 i="0">
                <a:solidFill>
                  <a:srgbClr val="E8ECF4"/>
                </a:solidFill>
                <a:latin typeface="Arial"/>
              </a:defRPr>
            </a:pPr>
            <a:r>
              <a:t>The PRP Workflow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515600" y="1051560"/>
            <a:ext cx="1188720" cy="365760"/>
          </a:xfrm>
          <a:prstGeom prst="roundRect">
            <a:avLst/>
          </a:prstGeom>
          <a:solidFill>
            <a:srgbClr val="E88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0" y="1078992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 i="0">
                <a:solidFill>
                  <a:srgbClr val="0A0D12"/>
                </a:solidFill>
                <a:latin typeface="Courier New"/>
              </a:defRPr>
            </a:pPr>
            <a:r>
              <a:t>FLOW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80160"/>
            <a:ext cx="11274552" cy="4389120"/>
          </a:xfrm>
          <a:prstGeom prst="roundRect">
            <a:avLst/>
          </a:prstGeom>
          <a:solidFill>
            <a:srgbClr val="0A0D12"/>
          </a:solidFill>
          <a:ln>
            <a:solidFill>
              <a:srgbClr val="3132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731520" y="1508760"/>
            <a:ext cx="164592" cy="164592"/>
          </a:xfrm>
          <a:prstGeom prst="ellipse">
            <a:avLst/>
          </a:prstGeom>
          <a:solidFill>
            <a:srgbClr val="F38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51560" y="1508760"/>
            <a:ext cx="164592" cy="164592"/>
          </a:xfrm>
          <a:prstGeom prst="ellipse">
            <a:avLst/>
          </a:prstGeom>
          <a:solidFill>
            <a:srgbClr val="F9E2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371600" y="1508760"/>
            <a:ext cx="164592" cy="164592"/>
          </a:xfrm>
          <a:prstGeom prst="ellipse">
            <a:avLst/>
          </a:prstGeom>
          <a:solidFill>
            <a:srgbClr val="A6E3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2011680"/>
            <a:ext cx="10698480" cy="3474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500" b="0" i="0">
                <a:solidFill>
                  <a:srgbClr val="E8ECF4"/>
                </a:solidFill>
                <a:latin typeface="Courier New"/>
              </a:defRPr>
            </a:pPr>
            <a:r>
              <a:t>INITIAL.md   →   /generate-prp   →   PRPs/comms.md   →   /execute-prp   →   Code</a:t>
            </a:r>
            <a:br/>
            <a:r>
              <a:t>    ^                                       ^</a:t>
            </a:r>
            <a:br/>
            <a:r>
              <a:t>    |                                       |</a:t>
            </a:r>
            <a:br/>
            <a:r>
              <a:t>You write the WHAT                Claude builds the HOW</a:t>
            </a:r>
            <a:br/>
            <a:br/>
            <a:r>
              <a:t>  1. You describe the feature in INITIAL.md</a:t>
            </a:r>
            <a:br/>
            <a:r>
              <a:t>  2. /generate-prp researches your codebase, generates a blueprint</a:t>
            </a:r>
            <a:br/>
            <a:r>
              <a:t>  3. You review the PRP — catch misunderstandings early</a:t>
            </a:r>
            <a:br/>
            <a:r>
              <a:t>  4. /execute-prp follows the blueprint step by step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5852160"/>
            <a:ext cx="1127455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 b="0" i="1">
                <a:solidFill>
                  <a:srgbClr val="9CA3B4"/>
                </a:solidFill>
                <a:latin typeface="Arial"/>
              </a:defRPr>
            </a:pPr>
            <a:r>
              <a:t>Review the PRP before executing. The PRP is your checkpoint.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20840"/>
            <a:ext cx="12191695" cy="137160"/>
          </a:xfrm>
          <a:prstGeom prst="rect">
            <a:avLst/>
          </a:prstGeom>
          <a:solidFill>
            <a:srgbClr val="5B9C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0" y="640080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 i="0">
                <a:solidFill>
                  <a:srgbClr val="9CA3B4"/>
                </a:solidFill>
                <a:latin typeface="Arial"/>
              </a:defRPr>
            </a:pPr>
            <a: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2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88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 i="0">
                <a:solidFill>
                  <a:srgbClr val="E8ECF4"/>
                </a:solidFill>
                <a:latin typeface="Arial"/>
              </a:defRPr>
            </a:pPr>
            <a:r>
              <a:t>Live Demo — /generate-prp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25880"/>
            <a:ext cx="2286000" cy="54864"/>
          </a:xfrm>
          <a:prstGeom prst="rect">
            <a:avLst/>
          </a:prstGeom>
          <a:solidFill>
            <a:srgbClr val="5B9C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1965960"/>
            <a:ext cx="109728" cy="109728"/>
          </a:xfrm>
          <a:prstGeom prst="rect">
            <a:avLst/>
          </a:prstGeom>
          <a:solidFill>
            <a:srgbClr val="E88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82880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 i="0">
                <a:solidFill>
                  <a:srgbClr val="E8ECF4"/>
                </a:solidFill>
                <a:latin typeface="Arial"/>
              </a:defRPr>
            </a:pPr>
            <a:r>
              <a:t>Run: /generate-prp INITIAL.md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3017520"/>
            <a:ext cx="109728" cy="109728"/>
          </a:xfrm>
          <a:prstGeom prst="rect">
            <a:avLst/>
          </a:prstGeom>
          <a:solidFill>
            <a:srgbClr val="E88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88036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 i="0">
                <a:solidFill>
                  <a:srgbClr val="E8ECF4"/>
                </a:solidFill>
                <a:latin typeface="Arial"/>
              </a:defRPr>
            </a:pPr>
            <a:r>
              <a:t>Claude reads INITIAL.md, CLAUDE.md, and your existing commands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4069080"/>
            <a:ext cx="109728" cy="109728"/>
          </a:xfrm>
          <a:prstGeom prst="rect">
            <a:avLst/>
          </a:prstGeom>
          <a:solidFill>
            <a:srgbClr val="E88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93192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 i="0">
                <a:solidFill>
                  <a:srgbClr val="E8ECF4"/>
                </a:solidFill>
                <a:latin typeface="Arial"/>
              </a:defRPr>
            </a:pPr>
            <a:r>
              <a:t>Researches patterns from examples/ and data/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5120640"/>
            <a:ext cx="109728" cy="109728"/>
          </a:xfrm>
          <a:prstGeom prst="rect">
            <a:avLst/>
          </a:prstGeom>
          <a:solidFill>
            <a:srgbClr val="E88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4983479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 i="0">
                <a:solidFill>
                  <a:srgbClr val="E8ECF4"/>
                </a:solidFill>
                <a:latin typeface="Arial"/>
              </a:defRPr>
            </a:pPr>
            <a:r>
              <a:t>Writes PRPs/meetup-comms.md — review it before executing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0" y="640080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 i="0">
                <a:solidFill>
                  <a:srgbClr val="9CA3B4"/>
                </a:solidFill>
                <a:latin typeface="Arial"/>
              </a:defRPr>
            </a:pPr>
            <a: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2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88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 i="0">
                <a:solidFill>
                  <a:srgbClr val="E8ECF4"/>
                </a:solidFill>
                <a:latin typeface="Arial"/>
              </a:defRPr>
            </a:pPr>
            <a:r>
              <a:t>Live Demo — /execute-prp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25880"/>
            <a:ext cx="2286000" cy="54864"/>
          </a:xfrm>
          <a:prstGeom prst="rect">
            <a:avLst/>
          </a:prstGeom>
          <a:solidFill>
            <a:srgbClr val="5B9C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1965960"/>
            <a:ext cx="109728" cy="109728"/>
          </a:xfrm>
          <a:prstGeom prst="rect">
            <a:avLst/>
          </a:prstGeom>
          <a:solidFill>
            <a:srgbClr val="E88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82880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 i="0">
                <a:solidFill>
                  <a:srgbClr val="E8ECF4"/>
                </a:solidFill>
                <a:latin typeface="Arial"/>
              </a:defRPr>
            </a:pPr>
            <a:r>
              <a:t>Run: /execute-prp PRPs/meetup-comms.md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3017520"/>
            <a:ext cx="109728" cy="109728"/>
          </a:xfrm>
          <a:prstGeom prst="rect">
            <a:avLst/>
          </a:prstGeom>
          <a:solidFill>
            <a:srgbClr val="E88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88036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 i="0">
                <a:solidFill>
                  <a:srgbClr val="E8ECF4"/>
                </a:solidFill>
                <a:latin typeface="Arial"/>
              </a:defRPr>
            </a:pPr>
            <a:r>
              <a:t>Creates build-schedule, draft-announcement, draft-speaker-outreach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4069080"/>
            <a:ext cx="109728" cy="109728"/>
          </a:xfrm>
          <a:prstGeom prst="rect">
            <a:avLst/>
          </a:prstGeom>
          <a:solidFill>
            <a:srgbClr val="E88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93192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 i="0">
                <a:solidFill>
                  <a:srgbClr val="E8ECF4"/>
                </a:solidFill>
                <a:latin typeface="Arial"/>
              </a:defRPr>
            </a:pPr>
            <a:r>
              <a:t>Validates against the event plan schema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5120640"/>
            <a:ext cx="109728" cy="109728"/>
          </a:xfrm>
          <a:prstGeom prst="rect">
            <a:avLst/>
          </a:prstGeom>
          <a:solidFill>
            <a:srgbClr val="E88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4983479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 i="0">
                <a:solidFill>
                  <a:srgbClr val="E8ECF4"/>
                </a:solidFill>
                <a:latin typeface="Arial"/>
              </a:defRPr>
            </a:pPr>
            <a:r>
              <a:t>Following a blueprint you reviewed — not guessing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0" y="640080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 i="0">
                <a:solidFill>
                  <a:srgbClr val="9CA3B4"/>
                </a:solidFill>
                <a:latin typeface="Arial"/>
              </a:defRPr>
            </a:pPr>
            <a: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2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 i="0">
                <a:solidFill>
                  <a:srgbClr val="E8ECF4"/>
                </a:solidFill>
                <a:latin typeface="Arial"/>
              </a:defRPr>
            </a:pPr>
            <a:r>
              <a:t>The Examples/ Folder Trick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515600" y="1051560"/>
            <a:ext cx="1188720" cy="365760"/>
          </a:xfrm>
          <a:prstGeom prst="roundRect">
            <a:avLst/>
          </a:prstGeom>
          <a:solidFill>
            <a:srgbClr val="E88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0" y="1078992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 i="0">
                <a:solidFill>
                  <a:srgbClr val="0A0D12"/>
                </a:solidFill>
                <a:latin typeface="Courier New"/>
              </a:defRPr>
            </a:pPr>
            <a:r>
              <a:t>DIR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80160"/>
            <a:ext cx="11274552" cy="4389120"/>
          </a:xfrm>
          <a:prstGeom prst="roundRect">
            <a:avLst/>
          </a:prstGeom>
          <a:solidFill>
            <a:srgbClr val="0A0D12"/>
          </a:solidFill>
          <a:ln>
            <a:solidFill>
              <a:srgbClr val="3132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731520" y="1508760"/>
            <a:ext cx="164592" cy="164592"/>
          </a:xfrm>
          <a:prstGeom prst="ellipse">
            <a:avLst/>
          </a:prstGeom>
          <a:solidFill>
            <a:srgbClr val="F38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51560" y="1508760"/>
            <a:ext cx="164592" cy="164592"/>
          </a:xfrm>
          <a:prstGeom prst="ellipse">
            <a:avLst/>
          </a:prstGeom>
          <a:solidFill>
            <a:srgbClr val="F9E2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371600" y="1508760"/>
            <a:ext cx="164592" cy="164592"/>
          </a:xfrm>
          <a:prstGeom prst="ellipse">
            <a:avLst/>
          </a:prstGeom>
          <a:solidFill>
            <a:srgbClr val="A6E3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2011680"/>
            <a:ext cx="10698480" cy="3474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500" b="0" i="0">
                <a:solidFill>
                  <a:srgbClr val="E8ECF4"/>
                </a:solidFill>
                <a:latin typeface="Courier New"/>
              </a:defRPr>
            </a:pPr>
            <a:r>
              <a:t>examples/</a:t>
            </a:r>
            <a:br/>
            <a:r>
              <a:t>  sample-event-plan.json     "Make output look like this"</a:t>
            </a:r>
            <a:br/>
            <a:r>
              <a:t>  sample-announcement.md     "Match this tone and format"</a:t>
            </a:r>
            <a:br/>
            <a:r>
              <a:t>  sample-schedule.md         "Follow this structure"</a:t>
            </a:r>
            <a:br/>
            <a:br/>
            <a:r>
              <a:t>The AI pattern-matches against your examples.</a:t>
            </a:r>
            <a:br/>
            <a:br/>
            <a:r>
              <a:t>Show it. Don't describe it.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5852160"/>
            <a:ext cx="1127455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 b="0" i="1">
                <a:solidFill>
                  <a:srgbClr val="9CA3B4"/>
                </a:solidFill>
                <a:latin typeface="Arial"/>
              </a:defRPr>
            </a:pPr>
            <a:r>
              <a:t>More examples = dramatically better output.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20840"/>
            <a:ext cx="12191695" cy="137160"/>
          </a:xfrm>
          <a:prstGeom prst="rect">
            <a:avLst/>
          </a:prstGeom>
          <a:solidFill>
            <a:srgbClr val="5B9C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0" y="640080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 i="0">
                <a:solidFill>
                  <a:srgbClr val="9CA3B4"/>
                </a:solidFill>
                <a:latin typeface="Arial"/>
              </a:defRPr>
            </a:pPr>
            <a: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2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 i="0">
                <a:solidFill>
                  <a:srgbClr val="E8ECF4"/>
                </a:solidFill>
                <a:latin typeface="Arial"/>
              </a:defRPr>
            </a:pPr>
            <a:r>
              <a:t>Composable Slash Commands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515600" y="1051560"/>
            <a:ext cx="1188720" cy="365760"/>
          </a:xfrm>
          <a:prstGeom prst="roundRect">
            <a:avLst/>
          </a:prstGeom>
          <a:solidFill>
            <a:srgbClr val="E88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0" y="1078992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 i="0">
                <a:solidFill>
                  <a:srgbClr val="0A0D12"/>
                </a:solidFill>
                <a:latin typeface="Courier New"/>
              </a:defRPr>
            </a:pPr>
            <a:r>
              <a:t>PIPE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80160"/>
            <a:ext cx="11274552" cy="4389120"/>
          </a:xfrm>
          <a:prstGeom prst="roundRect">
            <a:avLst/>
          </a:prstGeom>
          <a:solidFill>
            <a:srgbClr val="0A0D12"/>
          </a:solidFill>
          <a:ln>
            <a:solidFill>
              <a:srgbClr val="3132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731520" y="1508760"/>
            <a:ext cx="164592" cy="164592"/>
          </a:xfrm>
          <a:prstGeom prst="ellipse">
            <a:avLst/>
          </a:prstGeom>
          <a:solidFill>
            <a:srgbClr val="F38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51560" y="1508760"/>
            <a:ext cx="164592" cy="164592"/>
          </a:xfrm>
          <a:prstGeom prst="ellipse">
            <a:avLst/>
          </a:prstGeom>
          <a:solidFill>
            <a:srgbClr val="F9E2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371600" y="1508760"/>
            <a:ext cx="164592" cy="164592"/>
          </a:xfrm>
          <a:prstGeom prst="ellipse">
            <a:avLst/>
          </a:prstGeom>
          <a:solidFill>
            <a:srgbClr val="A6E3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2011680"/>
            <a:ext cx="10698480" cy="3474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500" b="0" i="0">
                <a:solidFill>
                  <a:srgbClr val="E8ECF4"/>
                </a:solidFill>
                <a:latin typeface="Courier New"/>
              </a:defRPr>
            </a:pPr>
            <a:r>
              <a:t>/plan-event "RAG pipelines"</a:t>
            </a:r>
            <a:br/>
            <a:r>
              <a:t>    → events/rag-pipelines.json</a:t>
            </a:r>
            <a:br/>
            <a:br/>
            <a:r>
              <a:t>/build-schedule events/rag-pipelines.json</a:t>
            </a:r>
            <a:br/>
            <a:r>
              <a:t>    → schedules/rag-pipelines.md  +  .json</a:t>
            </a:r>
            <a:br/>
            <a:br/>
            <a:r>
              <a:t>/draft-announcement events/rag-pipelines.json</a:t>
            </a:r>
            <a:br/>
            <a:r>
              <a:t>    → comms/rag-pipelines-announcement.md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5852160"/>
            <a:ext cx="1127455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 b="0" i="1">
                <a:solidFill>
                  <a:srgbClr val="9CA3B4"/>
                </a:solidFill>
                <a:latin typeface="Arial"/>
              </a:defRPr>
            </a:pPr>
            <a:r>
              <a:t>Each command reads structured data from the previous one.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20840"/>
            <a:ext cx="12191695" cy="137160"/>
          </a:xfrm>
          <a:prstGeom prst="rect">
            <a:avLst/>
          </a:prstGeom>
          <a:solidFill>
            <a:srgbClr val="5B9C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0" y="640080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 i="0">
                <a:solidFill>
                  <a:srgbClr val="9CA3B4"/>
                </a:solidFill>
                <a:latin typeface="Arial"/>
              </a:defRPr>
            </a:pPr>
            <a: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2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 i="0">
                <a:solidFill>
                  <a:srgbClr val="E8ECF4"/>
                </a:solidFill>
                <a:latin typeface="Arial"/>
              </a:defRPr>
            </a:pPr>
            <a:r>
              <a:t>$ARGUMENTS in Slash Commands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515600" y="1051560"/>
            <a:ext cx="1188720" cy="365760"/>
          </a:xfrm>
          <a:prstGeom prst="roundRect">
            <a:avLst/>
          </a:prstGeom>
          <a:solidFill>
            <a:srgbClr val="E88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0" y="1078992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 i="0">
                <a:solidFill>
                  <a:srgbClr val="0A0D12"/>
                </a:solidFill>
                <a:latin typeface="Courier New"/>
              </a:defRPr>
            </a:pPr>
            <a:r>
              <a:t>MD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80160"/>
            <a:ext cx="11274552" cy="4389120"/>
          </a:xfrm>
          <a:prstGeom prst="roundRect">
            <a:avLst/>
          </a:prstGeom>
          <a:solidFill>
            <a:srgbClr val="0A0D12"/>
          </a:solidFill>
          <a:ln>
            <a:solidFill>
              <a:srgbClr val="3132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731520" y="1508760"/>
            <a:ext cx="164592" cy="164592"/>
          </a:xfrm>
          <a:prstGeom prst="ellipse">
            <a:avLst/>
          </a:prstGeom>
          <a:solidFill>
            <a:srgbClr val="F38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51560" y="1508760"/>
            <a:ext cx="164592" cy="164592"/>
          </a:xfrm>
          <a:prstGeom prst="ellipse">
            <a:avLst/>
          </a:prstGeom>
          <a:solidFill>
            <a:srgbClr val="F9E2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371600" y="1508760"/>
            <a:ext cx="164592" cy="164592"/>
          </a:xfrm>
          <a:prstGeom prst="ellipse">
            <a:avLst/>
          </a:prstGeom>
          <a:solidFill>
            <a:srgbClr val="A6E3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2011680"/>
            <a:ext cx="10698480" cy="3474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500" b="0" i="0">
                <a:solidFill>
                  <a:srgbClr val="E8ECF4"/>
                </a:solidFill>
                <a:latin typeface="Courier New"/>
              </a:defRPr>
            </a:pPr>
            <a:r>
              <a:rPr sz="1300">
                <a:solidFill>
                  <a:srgbClr val="E8ECF4"/>
                </a:solidFill>
                <a:latin typeface="Courier New"/>
              </a:rPr>
              <a:t>---</a:t>
            </a:r>
            <a:br/>
            <a:r>
              <a:rPr sz="1300">
                <a:solidFill>
                  <a:srgbClr val="E8ECF4"/>
                </a:solidFill>
                <a:latin typeface="Courier New"/>
              </a:rPr>
              <a:t>name: build-schedule</a:t>
            </a:r>
            <a:br/>
            <a:r>
              <a:rPr sz="1300">
                <a:solidFill>
                  <a:srgbClr val="E8ECF4"/>
                </a:solidFill>
                <a:latin typeface="Courier New"/>
              </a:rPr>
              <a:t>description: Build a schedule from an event plan</a:t>
            </a:r>
            <a:br/>
            <a:r>
              <a:rPr sz="1300">
                <a:solidFill>
                  <a:srgbClr val="E8ECF4"/>
                </a:solidFill>
                <a:latin typeface="Courier New"/>
              </a:rPr>
              <a:t>argument-hint: [event-plan.json]</a:t>
            </a:r>
            <a:br/>
            <a:r>
              <a:rPr sz="1300">
                <a:solidFill>
                  <a:srgbClr val="E8ECF4"/>
                </a:solidFill>
                <a:latin typeface="Courier New"/>
              </a:rPr>
              <a:t>allowed-tools: Read, Write</a:t>
            </a:r>
            <a:br/>
            <a:r>
              <a:rPr sz="1300">
                <a:solidFill>
                  <a:srgbClr val="E8ECF4"/>
                </a:solidFill>
                <a:latin typeface="Courier New"/>
              </a:rPr>
              <a:t>---</a:t>
            </a:r>
            <a:br/>
            <a:br/>
            <a:r>
              <a:rPr sz="1300">
                <a:solidFill>
                  <a:srgbClr val="E8ECF4"/>
                </a:solidFill>
                <a:latin typeface="Courier New"/>
              </a:rPr>
              <a:t>Build a schedule for the event plan at: $ARGUMENTS</a:t>
            </a:r>
            <a:br/>
            <a:br/>
            <a:r>
              <a:rPr sz="1300">
                <a:solidFill>
                  <a:srgbClr val="E8ECF4"/>
                </a:solidFill>
                <a:latin typeface="Courier New"/>
              </a:rPr>
              <a:t>## Steps:</a:t>
            </a:r>
            <a:br/>
            <a:r>
              <a:rPr sz="1300">
                <a:solidFill>
                  <a:srgbClr val="E8ECF4"/>
                </a:solidFill>
                <a:latin typeface="Courier New"/>
              </a:rPr>
              <a:t>1. Read $ARGUMENTS and data/speakers.json</a:t>
            </a:r>
            <a:br/>
            <a:r>
              <a:rPr sz="1300">
                <a:solidFill>
                  <a:srgbClr val="E8ECF4"/>
                </a:solidFill>
                <a:latin typeface="Courier New"/>
              </a:rPr>
              <a:t>2. Fit talks into time slots, breaks every 90 min</a:t>
            </a:r>
            <a:br/>
            <a:r>
              <a:rPr sz="1300">
                <a:solidFill>
                  <a:srgbClr val="E8ECF4"/>
                </a:solidFill>
                <a:latin typeface="Courier New"/>
              </a:rPr>
              <a:t>3. Output markdown + JSON to schedules/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5852160"/>
            <a:ext cx="1127455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 b="0" i="1">
                <a:solidFill>
                  <a:srgbClr val="9CA3B4"/>
                </a:solidFill>
                <a:latin typeface="Arial"/>
              </a:defRPr>
            </a:pPr>
            <a:r>
              <a:rPr sz="1500" i="1">
                <a:solidFill>
                  <a:srgbClr val="9CA3B4"/>
                </a:solidFill>
                <a:latin typeface="Arial"/>
              </a:rPr>
              <a:t>Usage: /build-schedule events/rag-pipelines.json  →  $ARGUMENTS becomes the file path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20840"/>
            <a:ext cx="12191695" cy="137160"/>
          </a:xfrm>
          <a:prstGeom prst="rect">
            <a:avLst/>
          </a:prstGeom>
          <a:solidFill>
            <a:srgbClr val="5B9C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0" y="640080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 i="0">
                <a:solidFill>
                  <a:srgbClr val="9CA3B4"/>
                </a:solidFill>
                <a:latin typeface="Arial"/>
              </a:defRPr>
            </a:pPr>
            <a: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2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E88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 i="0">
                <a:solidFill>
                  <a:srgbClr val="E8ECF4"/>
                </a:solidFill>
                <a:latin typeface="Arial"/>
              </a:defRPr>
            </a:pPr>
            <a:r>
              <a:t>Tips &amp; Gotchas</a:t>
            </a:r>
          </a:p>
        </p:txBody>
      </p:sp>
      <p:sp>
        <p:nvSpPr>
          <p:cNvPr id="4" name="Rectangle 3"/>
          <p:cNvSpPr/>
          <p:nvPr/>
        </p:nvSpPr>
        <p:spPr>
          <a:xfrm>
            <a:off x="5989320" y="1371600"/>
            <a:ext cx="210312" cy="5029200"/>
          </a:xfrm>
          <a:prstGeom prst="rect">
            <a:avLst/>
          </a:prstGeom>
          <a:solidFill>
            <a:srgbClr val="313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062472" y="1371600"/>
            <a:ext cx="64008" cy="5029200"/>
          </a:xfrm>
          <a:prstGeom prst="rect">
            <a:avLst/>
          </a:prstGeom>
          <a:solidFill>
            <a:srgbClr val="E88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554480"/>
            <a:ext cx="137160" cy="457200"/>
          </a:xfrm>
          <a:prstGeom prst="rect">
            <a:avLst/>
          </a:prstGeom>
          <a:solidFill>
            <a:srgbClr val="F38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50876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F38BA8"/>
                </a:solidFill>
                <a:latin typeface="Arial"/>
              </a:defRPr>
            </a:pPr>
            <a:r>
              <a:t>Don't</a:t>
            </a:r>
          </a:p>
        </p:txBody>
      </p:sp>
      <p:sp>
        <p:nvSpPr>
          <p:cNvPr id="8" name="Oval 7"/>
          <p:cNvSpPr/>
          <p:nvPr/>
        </p:nvSpPr>
        <p:spPr>
          <a:xfrm>
            <a:off x="457200" y="2423160"/>
            <a:ext cx="91440" cy="91440"/>
          </a:xfrm>
          <a:prstGeom prst="ellipse">
            <a:avLst/>
          </a:prstGeom>
          <a:solidFill>
            <a:srgbClr val="F38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2286000"/>
            <a:ext cx="5029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 i="0">
                <a:solidFill>
                  <a:srgbClr val="E8ECF4"/>
                </a:solidFill>
                <a:latin typeface="Arial"/>
              </a:defRPr>
            </a:pPr>
            <a:r>
              <a:t>Skip INITIAL.md and go straight to coding</a:t>
            </a:r>
          </a:p>
        </p:txBody>
      </p:sp>
      <p:sp>
        <p:nvSpPr>
          <p:cNvPr id="10" name="Oval 9"/>
          <p:cNvSpPr/>
          <p:nvPr/>
        </p:nvSpPr>
        <p:spPr>
          <a:xfrm>
            <a:off x="457200" y="3291840"/>
            <a:ext cx="91440" cy="91440"/>
          </a:xfrm>
          <a:prstGeom prst="ellipse">
            <a:avLst/>
          </a:prstGeom>
          <a:solidFill>
            <a:srgbClr val="F38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3154680"/>
            <a:ext cx="5029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 i="0">
                <a:solidFill>
                  <a:srgbClr val="E8ECF4"/>
                </a:solidFill>
                <a:latin typeface="Arial"/>
              </a:defRPr>
            </a:pPr>
            <a:r>
              <a:t>Write vague EXAMPLES — point to specific files</a:t>
            </a:r>
          </a:p>
        </p:txBody>
      </p:sp>
      <p:sp>
        <p:nvSpPr>
          <p:cNvPr id="12" name="Oval 11"/>
          <p:cNvSpPr/>
          <p:nvPr/>
        </p:nvSpPr>
        <p:spPr>
          <a:xfrm>
            <a:off x="457200" y="4160520"/>
            <a:ext cx="91440" cy="91440"/>
          </a:xfrm>
          <a:prstGeom prst="ellipse">
            <a:avLst/>
          </a:prstGeom>
          <a:solidFill>
            <a:srgbClr val="F38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4023360"/>
            <a:ext cx="5029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 i="0">
                <a:solidFill>
                  <a:srgbClr val="E8ECF4"/>
                </a:solidFill>
                <a:latin typeface="Arial"/>
              </a:defRPr>
            </a:pPr>
            <a:r>
              <a:t>Expect perfection on the first PRP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36792" y="1554480"/>
            <a:ext cx="137160" cy="457200"/>
          </a:xfrm>
          <a:prstGeom prst="rect">
            <a:avLst/>
          </a:prstGeom>
          <a:solidFill>
            <a:srgbClr val="56C4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56832" y="150876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56C495"/>
                </a:solidFill>
                <a:latin typeface="Arial"/>
              </a:defRPr>
            </a:pPr>
            <a:r>
              <a:t>Do</a:t>
            </a:r>
          </a:p>
        </p:txBody>
      </p:sp>
      <p:sp>
        <p:nvSpPr>
          <p:cNvPr id="16" name="Oval 15"/>
          <p:cNvSpPr/>
          <p:nvPr/>
        </p:nvSpPr>
        <p:spPr>
          <a:xfrm>
            <a:off x="6336792" y="2423160"/>
            <a:ext cx="91440" cy="91440"/>
          </a:xfrm>
          <a:prstGeom prst="ellipse">
            <a:avLst/>
          </a:prstGeom>
          <a:solidFill>
            <a:srgbClr val="56C4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56832" y="2286000"/>
            <a:ext cx="5029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 i="0">
                <a:solidFill>
                  <a:srgbClr val="E8ECF4"/>
                </a:solidFill>
                <a:latin typeface="Arial"/>
              </a:defRPr>
            </a:pPr>
            <a:r>
              <a:t>Review the PRP before executing</a:t>
            </a:r>
          </a:p>
        </p:txBody>
      </p:sp>
      <p:sp>
        <p:nvSpPr>
          <p:cNvPr id="18" name="Oval 17"/>
          <p:cNvSpPr/>
          <p:nvPr/>
        </p:nvSpPr>
        <p:spPr>
          <a:xfrm>
            <a:off x="6336792" y="3291840"/>
            <a:ext cx="91440" cy="91440"/>
          </a:xfrm>
          <a:prstGeom prst="ellipse">
            <a:avLst/>
          </a:prstGeom>
          <a:solidFill>
            <a:srgbClr val="56C4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56832" y="3154680"/>
            <a:ext cx="5029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 i="0">
                <a:solidFill>
                  <a:srgbClr val="E8ECF4"/>
                </a:solidFill>
                <a:latin typeface="Arial"/>
              </a:defRPr>
            </a:pPr>
            <a:r>
              <a:t>Include OTHER CONSIDERATIONS — that's where edge cases live</a:t>
            </a:r>
          </a:p>
        </p:txBody>
      </p:sp>
      <p:sp>
        <p:nvSpPr>
          <p:cNvPr id="20" name="Oval 19"/>
          <p:cNvSpPr/>
          <p:nvPr/>
        </p:nvSpPr>
        <p:spPr>
          <a:xfrm>
            <a:off x="6336792" y="4160520"/>
            <a:ext cx="91440" cy="91440"/>
          </a:xfrm>
          <a:prstGeom prst="ellipse">
            <a:avLst/>
          </a:prstGeom>
          <a:solidFill>
            <a:srgbClr val="56C4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56832" y="4023360"/>
            <a:ext cx="5029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 i="0">
                <a:solidFill>
                  <a:srgbClr val="E8ECF4"/>
                </a:solidFill>
                <a:latin typeface="Arial"/>
              </a:defRPr>
            </a:pPr>
            <a:r>
              <a:t>Add more examples to improve output over time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430000" y="640080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 i="0">
                <a:solidFill>
                  <a:srgbClr val="9CA3B4"/>
                </a:solidFill>
                <a:latin typeface="Arial"/>
              </a:defRPr>
            </a:pPr>
            <a: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2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0" cy="6858000"/>
          </a:xfrm>
          <a:prstGeom prst="rect">
            <a:avLst/>
          </a:prstGeom>
          <a:solidFill>
            <a:srgbClr val="181D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377440"/>
            <a:ext cx="32004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0" b="1" i="0">
                <a:solidFill>
                  <a:srgbClr val="E8853D"/>
                </a:solidFill>
                <a:latin typeface="Arial"/>
              </a:defRPr>
            </a:pPr>
            <a:r>
              <a:t>19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0" y="1371600"/>
            <a:ext cx="73152" cy="4114800"/>
          </a:xfrm>
          <a:prstGeom prst="rect">
            <a:avLst/>
          </a:prstGeom>
          <a:solidFill>
            <a:srgbClr val="E88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0" y="2377440"/>
            <a:ext cx="6858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400" b="1" i="0">
                <a:solidFill>
                  <a:srgbClr val="E8ECF4"/>
                </a:solidFill>
                <a:latin typeface="Arial"/>
              </a:defRPr>
            </a:pPr>
            <a:r>
              <a:t>Build Time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0" y="3840480"/>
            <a:ext cx="68580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 i="0">
                <a:solidFill>
                  <a:srgbClr val="9CA3B4"/>
                </a:solidFill>
                <a:latin typeface="Arial"/>
              </a:defRPr>
            </a:pPr>
            <a:r>
              <a:t>Build the comms and scheduling pipeline via PRP — about 40 minutes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640080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 i="0">
                <a:solidFill>
                  <a:srgbClr val="9CA3B4"/>
                </a:solidFill>
                <a:latin typeface="Arial"/>
              </a:defRPr>
            </a:pPr>
            <a: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2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88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 i="0">
                <a:solidFill>
                  <a:srgbClr val="E8ECF4"/>
                </a:solidFill>
                <a:latin typeface="Arial"/>
              </a:defRPr>
            </a:pPr>
            <a:r>
              <a:t>Checkpoint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25880"/>
            <a:ext cx="2286000" cy="54864"/>
          </a:xfrm>
          <a:prstGeom prst="rect">
            <a:avLst/>
          </a:prstGeom>
          <a:solidFill>
            <a:srgbClr val="5B9C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1965960"/>
            <a:ext cx="109728" cy="109728"/>
          </a:xfrm>
          <a:prstGeom prst="rect">
            <a:avLst/>
          </a:prstGeom>
          <a:solidFill>
            <a:srgbClr val="E88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828800"/>
            <a:ext cx="10515600" cy="8778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 i="0">
                <a:solidFill>
                  <a:srgbClr val="E8ECF4"/>
                </a:solidFill>
                <a:latin typeface="Arial"/>
              </a:defRPr>
            </a:pPr>
            <a:r>
              <a:t>INITIAL.md with a complete feature request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980944"/>
            <a:ext cx="109728" cy="109728"/>
          </a:xfrm>
          <a:prstGeom prst="rect">
            <a:avLst/>
          </a:prstGeom>
          <a:solidFill>
            <a:srgbClr val="E88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843784"/>
            <a:ext cx="10515600" cy="8778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 i="0">
                <a:solidFill>
                  <a:srgbClr val="E8ECF4"/>
                </a:solidFill>
                <a:latin typeface="Arial"/>
              </a:defRPr>
            </a:pPr>
            <a:r>
              <a:t>Generated PRP saved in PRPs/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3995928"/>
            <a:ext cx="109728" cy="109728"/>
          </a:xfrm>
          <a:prstGeom prst="rect">
            <a:avLst/>
          </a:prstGeom>
          <a:solidFill>
            <a:srgbClr val="E88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858768"/>
            <a:ext cx="10515600" cy="8778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 i="0">
                <a:solidFill>
                  <a:srgbClr val="E8ECF4"/>
                </a:solidFill>
                <a:latin typeface="Arial"/>
              </a:defRPr>
            </a:pPr>
            <a:r>
              <a:t>/build-schedule, /draft-announcement, /draft-speaker-outreach all working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5010912"/>
            <a:ext cx="109728" cy="109728"/>
          </a:xfrm>
          <a:prstGeom prst="rect">
            <a:avLst/>
          </a:prstGeom>
          <a:solidFill>
            <a:srgbClr val="E88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4873752"/>
            <a:ext cx="10515600" cy="8778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 i="0">
                <a:solidFill>
                  <a:srgbClr val="E8ECF4"/>
                </a:solidFill>
                <a:latin typeface="Arial"/>
              </a:defRPr>
            </a:pPr>
            <a:r>
              <a:t>All commands consume JSON from the previous step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6025896"/>
            <a:ext cx="109728" cy="109728"/>
          </a:xfrm>
          <a:prstGeom prst="rect">
            <a:avLst/>
          </a:prstGeom>
          <a:solidFill>
            <a:srgbClr val="E88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5888736"/>
            <a:ext cx="10515600" cy="8778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 i="0">
                <a:solidFill>
                  <a:srgbClr val="E8ECF4"/>
                </a:solidFill>
                <a:latin typeface="Arial"/>
              </a:defRPr>
            </a:pPr>
            <a:r>
              <a:t>Pipeline runs end-to-end on a fresh topic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0" y="640080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 i="0">
                <a:solidFill>
                  <a:srgbClr val="9CA3B4"/>
                </a:solidFill>
                <a:latin typeface="Arial"/>
              </a:defRPr>
            </a:pPr>
            <a: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2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E88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17352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 i="0">
                <a:solidFill>
                  <a:srgbClr val="E8ECF4"/>
                </a:solidFill>
                <a:latin typeface="Arial"/>
              </a:defRPr>
            </a:pPr>
            <a:r>
              <a:t>Session 3 — Subagents &amp; Hooks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3840480"/>
            <a:ext cx="944575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 i="0">
                <a:solidFill>
                  <a:srgbClr val="9CA3B4"/>
                </a:solidFill>
                <a:latin typeface="Arial"/>
              </a:defRPr>
            </a:pPr>
            <a:r>
              <a:t>Specialists beat generalists. From solo performer to coordinated team.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2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88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 i="0">
                <a:solidFill>
                  <a:srgbClr val="E8ECF4"/>
                </a:solidFill>
                <a:latin typeface="Arial"/>
              </a:defRPr>
            </a:pPr>
            <a:r>
              <a:t>Three Takeaways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34440"/>
            <a:ext cx="2286000" cy="54864"/>
          </a:xfrm>
          <a:prstGeom prst="rect">
            <a:avLst/>
          </a:prstGeom>
          <a:solidFill>
            <a:srgbClr val="E88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57200" y="1645920"/>
            <a:ext cx="3576218" cy="4206240"/>
          </a:xfrm>
          <a:prstGeom prst="roundRect">
            <a:avLst/>
          </a:prstGeom>
          <a:solidFill>
            <a:srgbClr val="1A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645920"/>
            <a:ext cx="3576218" cy="91440"/>
          </a:xfrm>
          <a:prstGeom prst="rect">
            <a:avLst/>
          </a:prstGeom>
          <a:solidFill>
            <a:srgbClr val="E88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920240"/>
            <a:ext cx="731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E8853D"/>
                </a:solidFill>
                <a:latin typeface="Arial"/>
              </a:defRPr>
            </a:pPr>
            <a: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560320"/>
            <a:ext cx="321045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E8ECF4"/>
                </a:solidFill>
                <a:latin typeface="Arial"/>
              </a:defRPr>
            </a:pPr>
            <a:r>
              <a:t>Context Wins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749039"/>
            <a:ext cx="3210458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9CA3B4"/>
                </a:solidFill>
                <a:latin typeface="Arial"/>
              </a:defRPr>
            </a:pPr>
            <a:r>
              <a:t>Complete blueprints beat clever wording. Give the AI everything it needs.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07738" y="1645920"/>
            <a:ext cx="3576218" cy="4206240"/>
          </a:xfrm>
          <a:prstGeom prst="roundRect">
            <a:avLst/>
          </a:prstGeom>
          <a:solidFill>
            <a:srgbClr val="1A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07738" y="1645920"/>
            <a:ext cx="3576218" cy="91440"/>
          </a:xfrm>
          <a:prstGeom prst="rect">
            <a:avLst/>
          </a:prstGeom>
          <a:solidFill>
            <a:srgbClr val="5B9C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90618" y="1920240"/>
            <a:ext cx="731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5B9CF5"/>
                </a:solidFill>
                <a:latin typeface="Arial"/>
              </a:defRPr>
            </a:pPr>
            <a: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90618" y="2560320"/>
            <a:ext cx="321045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E8ECF4"/>
                </a:solidFill>
                <a:latin typeface="Arial"/>
              </a:defRPr>
            </a:pPr>
            <a:r>
              <a:t>INITIAL → PRP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90618" y="3749039"/>
            <a:ext cx="3210458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9CA3B4"/>
                </a:solidFill>
                <a:latin typeface="Arial"/>
              </a:defRPr>
            </a:pPr>
            <a:r>
              <a:t>Describe WHAT you want. Generate HOW to build it. Execute the plan.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58276" y="1645920"/>
            <a:ext cx="3576218" cy="4206240"/>
          </a:xfrm>
          <a:prstGeom prst="roundRect">
            <a:avLst/>
          </a:prstGeom>
          <a:solidFill>
            <a:srgbClr val="1A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158276" y="1645920"/>
            <a:ext cx="3576218" cy="91440"/>
          </a:xfrm>
          <a:prstGeom prst="rect">
            <a:avLst/>
          </a:prstGeom>
          <a:solidFill>
            <a:srgbClr val="56C4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41156" y="1920240"/>
            <a:ext cx="731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56C495"/>
                </a:solidFill>
                <a:latin typeface="Arial"/>
              </a:defRPr>
            </a:pPr>
            <a: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41156" y="2560320"/>
            <a:ext cx="321045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E8ECF4"/>
                </a:solidFill>
                <a:latin typeface="Arial"/>
              </a:defRPr>
            </a:pPr>
            <a:r>
              <a:t>Compose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41156" y="3749039"/>
            <a:ext cx="3210458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9CA3B4"/>
                </a:solidFill>
                <a:latin typeface="Arial"/>
              </a:defRPr>
            </a:pPr>
            <a:r>
              <a:t>Structured JSON enables real workflows — not just one-off prompts.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30000" y="640080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 i="0">
                <a:solidFill>
                  <a:srgbClr val="9CA3B4"/>
                </a:solidFill>
                <a:latin typeface="Arial"/>
              </a:defRPr>
            </a:pPr>
            <a:r>
              <a:t>22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