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E8ECF4"/>
                </a:solidFill>
                <a:latin typeface="Inter"/>
              </a:defRPr>
            </a:pPr>
            <a:r>
              <a:t>Building AI Agents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E8853D"/>
                </a:solidFill>
                <a:latin typeface="Inter"/>
              </a:defRPr>
            </a:pPr>
            <a:r>
              <a:t>Session 4: Parallel Agents &amp; The Feedback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9CA3B4"/>
                </a:solidFill>
                <a:latin typeface="Inter"/>
              </a:defRPr>
            </a:pPr>
            <a:r>
              <a:t>Generate multiple variants, score them, pick the best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8ECF4"/>
                </a:solidFill>
                <a:latin typeface="Inter"/>
              </a:defRPr>
            </a:pPr>
            <a:r>
              <a:t>Nick Yeager — AI Solutions Architect / nickcyeager.com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CA3B4"/>
                </a:solidFill>
                <a:latin typeface="JetBrains Mono"/>
              </a:defRPr>
            </a:pPr>
            <a:r>
              <a:t>Tucson Claude Code Meetup | github.com/ai-trailblazers/tucson-claude-code-meetup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Recap — The Full System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What we’ve built across 3 sessions: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rPr sz="1800" b="1">
                <a:solidFill>
                  <a:srgbClr val="5B9CF5"/>
                </a:solidFill>
                <a:latin typeface="JetBrains Mono"/>
              </a:rPr>
              <a:t>/plan-event</a:t>
            </a:r>
            <a:r>
              <a:rPr sz="1800">
                <a:solidFill>
                  <a:srgbClr val="E8ECF4"/>
                </a:solidFill>
                <a:latin typeface="Inter"/>
              </a:rPr>
              <a:t> — structured event planning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134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6771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rPr sz="1800" b="1">
                <a:solidFill>
                  <a:srgbClr val="5B9CF5"/>
                </a:solidFill>
                <a:latin typeface="JetBrains Mono"/>
              </a:rPr>
              <a:t>/build-schedule</a:t>
            </a:r>
            <a:r>
              <a:rPr sz="1800">
                <a:solidFill>
                  <a:srgbClr val="E8ECF4"/>
                </a:solidFill>
                <a:latin typeface="Inter"/>
              </a:rPr>
              <a:t> — detailed schedule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60904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15184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rPr sz="1800" b="1">
                <a:solidFill>
                  <a:srgbClr val="5B9CF5"/>
                </a:solidFill>
                <a:latin typeface="JetBrains Mono"/>
              </a:rPr>
              <a:t>/draft-announcement</a:t>
            </a:r>
            <a:r>
              <a:rPr sz="1800">
                <a:solidFill>
                  <a:srgbClr val="E8ECF4"/>
                </a:solidFill>
                <a:latin typeface="Inter"/>
              </a:rPr>
              <a:t> — communication drafts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08376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962656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rPr sz="1800" b="1">
                <a:solidFill>
                  <a:srgbClr val="5B9CF5"/>
                </a:solidFill>
                <a:latin typeface="JetBrains Mono"/>
              </a:rPr>
              <a:t>/draft-speaker-outreach</a:t>
            </a:r>
            <a:r>
              <a:rPr sz="1800">
                <a:solidFill>
                  <a:srgbClr val="E8ECF4"/>
                </a:solidFill>
                <a:latin typeface="Inter"/>
              </a:rPr>
              <a:t> — personalized speaker emails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55848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31012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rPr sz="1800" b="1">
                <a:solidFill>
                  <a:srgbClr val="5B9CF5"/>
                </a:solidFill>
                <a:latin typeface="JetBrains Mono"/>
              </a:rPr>
              <a:t>schedule-optimizer</a:t>
            </a:r>
            <a:r>
              <a:rPr sz="1800">
                <a:solidFill>
                  <a:srgbClr val="E8ECF4"/>
                </a:solidFill>
                <a:latin typeface="Inter"/>
              </a:rPr>
              <a:t> — subagent specialist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6576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rPr sz="1800" b="1">
                <a:solidFill>
                  <a:srgbClr val="5B9CF5"/>
                </a:solidFill>
                <a:latin typeface="JetBrains Mono"/>
              </a:rPr>
              <a:t>comms-reviewer</a:t>
            </a:r>
            <a:r>
              <a:rPr sz="1800">
                <a:solidFill>
                  <a:srgbClr val="E8ECF4"/>
                </a:solidFill>
                <a:latin typeface="Inter"/>
              </a:rPr>
              <a:t> — communication quality subagent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05079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00507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rPr sz="1800" b="1">
                <a:solidFill>
                  <a:srgbClr val="5B9CF5"/>
                </a:solidFill>
                <a:latin typeface="JetBrains Mono"/>
              </a:rPr>
              <a:t>Auto-review hook</a:t>
            </a:r>
            <a:r>
              <a:rPr sz="1800">
                <a:solidFill>
                  <a:srgbClr val="E8ECF4"/>
                </a:solidFill>
                <a:latin typeface="Inter"/>
              </a:rPr>
              <a:t> — triggered on comms 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26864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Today: parallel generation + learning from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Today’s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853D"/>
                </a:solidFill>
                <a:latin typeface="Inter"/>
              </a:defRPr>
            </a:pPr>
            <a:r>
              <a:t>Competing variants + a self-improving feedback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You will learn: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88920"/>
            <a:ext cx="109728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rPr sz="2000" b="1">
                <a:solidFill>
                  <a:srgbClr val="E8ECF4"/>
                </a:solidFill>
                <a:latin typeface="Inter"/>
              </a:rPr>
              <a:t>Parallel subagents</a:t>
            </a:r>
            <a:r>
              <a:rPr sz="2000">
                <a:solidFill>
                  <a:srgbClr val="9CA3B4"/>
                </a:solidFill>
                <a:latin typeface="Inter"/>
              </a:rPr>
              <a:t> — run multiple agents simultaneously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46120"/>
            <a:ext cx="109728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rPr sz="2000" b="1">
                <a:solidFill>
                  <a:srgbClr val="E8ECF4"/>
                </a:solidFill>
                <a:latin typeface="Inter"/>
              </a:rPr>
              <a:t>Evaluation-driven selection</a:t>
            </a:r>
            <a:r>
              <a:rPr sz="2000">
                <a:solidFill>
                  <a:srgbClr val="9CA3B4"/>
                </a:solidFill>
                <a:latin typeface="Inter"/>
              </a:rPr>
              <a:t> — let specialists pick the winner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703320"/>
            <a:ext cx="109728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rPr sz="2000" b="1">
                <a:solidFill>
                  <a:srgbClr val="E8ECF4"/>
                </a:solidFill>
                <a:latin typeface="Inter"/>
              </a:rPr>
              <a:t>Git worktrees</a:t>
            </a:r>
            <a:r>
              <a:rPr sz="2000">
                <a:solidFill>
                  <a:srgbClr val="9CA3B4"/>
                </a:solidFill>
                <a:latin typeface="Inter"/>
              </a:rPr>
              <a:t> — isolated workspaces for each variant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60520"/>
            <a:ext cx="109728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rPr sz="2000" b="1">
                <a:solidFill>
                  <a:srgbClr val="E8ECF4"/>
                </a:solidFill>
                <a:latin typeface="Inter"/>
              </a:rPr>
              <a:t>Feedback loops</a:t>
            </a:r>
            <a:r>
              <a:rPr sz="2000">
                <a:solidFill>
                  <a:srgbClr val="9CA3B4"/>
                </a:solidFill>
                <a:latin typeface="Inter"/>
              </a:rPr>
              <a:t> — agents that learn from past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The Non-Determinism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Ask the same question 3 times: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6400800" cy="1188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"Plan a meetup about RAG pipelines"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→ Response A (community-focused)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→ Response B (deep technical)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→ Response C (hands-on workshop)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rPr sz="1800">
                <a:solidFill>
                  <a:srgbClr val="E8ECF4"/>
                </a:solidFill>
                <a:latin typeface="Inter"/>
              </a:rPr>
              <a:t>Usually this is a </a:t>
            </a:r>
            <a:r>
              <a:rPr sz="1800" b="1">
                <a:solidFill>
                  <a:srgbClr val="E8853D"/>
                </a:solidFill>
                <a:latin typeface="Inter"/>
              </a:rPr>
              <a:t>problem</a:t>
            </a:r>
            <a:r>
              <a:rPr sz="1800">
                <a:solidFill>
                  <a:srgbClr val="E8ECF4"/>
                </a:solidFill>
                <a:latin typeface="Inter"/>
              </a:rPr>
              <a:t>. A single unconstrained attempt is how you get "design slop" — the same generic output every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5B9CF5"/>
                </a:solidFill>
                <a:latin typeface="Inter"/>
              </a:defRPr>
            </a:pPr>
            <a:r>
              <a:t>But what if we do it intentionally?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26280"/>
            <a:ext cx="109728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Generate 3 variants on 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73752"/>
            <a:ext cx="109728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2803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Evaluate each objectively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221224"/>
            <a:ext cx="109728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175504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Pick the best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0136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853D"/>
                </a:solidFill>
                <a:latin typeface="Inter"/>
              </a:defRPr>
            </a:pPr>
            <a:r>
              <a:t>Non-determinism + evaluation = better than any single attempt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Parallel Subagents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188720"/>
            <a:ext cx="9144000" cy="5303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  ┌─────────────┐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  │  Main Agent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  └──────┬──────┘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┌───────────┼───────────┐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v           v           v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┌──────────┐ ┌──────────┐ ┌──────────┐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│ V1:      │ │ V2:      │ │ V3: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│ Network  │ │ Tech     │ │ Hands-on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│ Focus    │ │ Depth    │ │ Workshop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└──────────┘ └──────────┘ └──────────┘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│           │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Event Plan    Event Plan    Event Plan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+ Schedule    + Schedule    + Schedule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+ Announce    + Announce    + Announce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│           │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└───────────┼───────────┘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         v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┌────────────────┐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│  Specialists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│  Score Each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└────────┬───────┘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         v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┌────────────────┐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│ Winner Selected│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A6E3A1"/>
                </a:solidFill>
                <a:latin typeface="JetBrains Mono"/>
              </a:defRPr>
            </a:pPr>
            <a:r>
              <a:t>                  └────────────────┘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How It Works — Under the 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Git worktrees provide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7315200" cy="13716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>
                <a:solidFill>
                  <a:srgbClr val="A6E3A1"/>
                </a:solidFill>
                <a:latin typeface="JetBrains Mono"/>
              </a:defRPr>
            </a:pPr>
            <a:r>
              <a:t>meetup-agent/        ← main workspace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6E3A1"/>
                </a:solidFill>
                <a:latin typeface="JetBrains Mono"/>
              </a:defRPr>
            </a:pPr>
            <a:r>
              <a:t>meetup-agent-v1/     ← variant 1 workspace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6E3A1"/>
                </a:solidFill>
                <a:latin typeface="JetBrains Mono"/>
              </a:defRPr>
            </a:pPr>
            <a:r>
              <a:t>meetup-agent-v2/     ← variant 2 workspace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6E3A1"/>
                </a:solidFill>
                <a:latin typeface="JetBrains Mono"/>
              </a:defRPr>
            </a:pPr>
            <a:r>
              <a:t>meetup-agent-v3/     ← variant 3 workspace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862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Each subagent works in its own copy of the repo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70248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2452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No conflicts between variants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654296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608576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Claude handles the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Git Worktrees — The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A worktree is a separate working directory linked to the same Git repo.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9144000" cy="1097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git worktree add ../meetup-agent-v1 -b variant-1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git worktree add ../meetup-agent-v2 -b variant-2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git worktree add ../meetup-agent-v3 -b variant-3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Claude Code's Agent tool uses isolation: "worktree"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8ECF4"/>
                </a:solidFill>
                <a:latin typeface="Inter"/>
              </a:defRPr>
            </a:pPr>
            <a:r>
              <a:t>You don’t need special syntax — just describe what you want: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Run 3 parallel subagents for the RAG Workshop brief.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Each in its own worktree. V1: community-first.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A6E3A1"/>
                </a:solidFill>
                <a:latin typeface="JetBrains Mono"/>
              </a:defRPr>
            </a:pPr>
            <a:r>
              <a:t>V2: deep-dive. V3: workshop-lab.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B4"/>
                </a:solidFill>
                <a:latin typeface="Inter"/>
              </a:defRPr>
            </a:pPr>
            <a:r>
              <a:t>Claude handles the worktree creation, parallel execution, and result merging.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E8853D"/>
                </a:solidFill>
                <a:latin typeface="Inter"/>
              </a:defRPr>
            </a:pPr>
            <a:r>
              <a:t>Same repo. Separate branches. Parallel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0">
                <a:solidFill>
                  <a:srgbClr val="E8ECF4"/>
                </a:solidFill>
                <a:latin typeface="Inter"/>
              </a:defRPr>
            </a:pPr>
            <a:r>
              <a:t>Parallel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9CA3B4"/>
                </a:solidFill>
                <a:latin typeface="Inter"/>
              </a:defRPr>
            </a:pPr>
            <a:r>
              <a:t>3 variants for "RAG Workshop"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3657600"/>
          <a:ext cx="94183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576072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853D"/>
                          </a:solidFill>
                          <a:latin typeface="Inter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853D"/>
                          </a:solidFill>
                          <a:latin typeface="Inter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853D"/>
                          </a:solidFill>
                          <a:latin typeface="Inter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Community-first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Networking, demos, group discussion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22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Deep-dive</a:t>
                      </a:r>
                    </a:p>
                  </a:txBody>
                  <a:tcPr>
                    <a:solidFill>
                      <a:srgbClr val="22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Architecture, internals, advanced patterns</a:t>
                      </a:r>
                    </a:p>
                  </a:txBody>
                  <a:tcPr>
                    <a:solidFill>
                      <a:srgbClr val="22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Workshop-lab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Hands-on coding, build a RAG pipeline live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56C495"/>
                </a:solidFill>
                <a:latin typeface="Inter"/>
              </a:defRPr>
            </a:pPr>
            <a:r>
              <a:t>Watch all 3 run simultaneously.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Evaluation — Reusing Your Specialists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Remember our subagents from Session 3?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914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00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853D"/>
                          </a:solidFill>
                          <a:latin typeface="Inter"/>
                        </a:defRPr>
                      </a:pPr>
                      <a:r>
                        <a:t>Specialist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853D"/>
                          </a:solidFill>
                          <a:latin typeface="Inter"/>
                        </a:defRPr>
                      </a:pPr>
                      <a:r>
                        <a:t>What It Scores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schedule-optimizer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Schedule quality, time allocation, flow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comms-reviewer</a:t>
                      </a:r>
                    </a:p>
                  </a:txBody>
                  <a:tcPr>
                    <a:solidFill>
                      <a:srgbClr val="22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Announcement clarity, tone, completeness</a:t>
                      </a:r>
                    </a:p>
                  </a:txBody>
                  <a:tcPr>
                    <a:solidFill>
                      <a:srgbClr val="222A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853D"/>
                </a:solidFill>
                <a:latin typeface="Inter"/>
              </a:defRPr>
            </a:pPr>
            <a:r>
              <a:t>Build once, reuse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Each specialist scores each variant on the same criteria.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E8ECF4"/>
                </a:solidFill>
                <a:latin typeface="Inter"/>
              </a:defRPr>
            </a:pPr>
            <a:r>
              <a:t>Scoring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ECF4"/>
                </a:solidFill>
                <a:latin typeface="Inter"/>
              </a:defRPr>
            </a:pPr>
            <a:r>
              <a:t>Evaluation Results: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651760"/>
          <a:ext cx="942746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75688"/>
                <a:gridCol w="2075688"/>
                <a:gridCol w="2075688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853D"/>
                          </a:solidFill>
                          <a:latin typeface="Inter"/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853D"/>
                          </a:solidFill>
                          <a:latin typeface="Inter"/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853D"/>
                          </a:solidFill>
                          <a:latin typeface="Inter"/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8853D"/>
                          </a:solidFill>
                          <a:latin typeface="Inter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Schedule Quality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7/10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8/10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Announcement Clarity</a:t>
                      </a:r>
                    </a:p>
                  </a:txBody>
                  <a:tcPr>
                    <a:solidFill>
                      <a:srgbClr val="22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22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6/10</a:t>
                      </a:r>
                    </a:p>
                  </a:txBody>
                  <a:tcPr>
                    <a:solidFill>
                      <a:srgbClr val="22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8/10</a:t>
                      </a:r>
                    </a:p>
                  </a:txBody>
                  <a:tcPr>
                    <a:solidFill>
                      <a:srgbClr val="222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CF4"/>
                          </a:solidFill>
                          <a:latin typeface="Inter"/>
                        </a:defRPr>
                      </a:pPr>
                      <a:r>
                        <a:t>8.5</a:t>
                      </a:r>
                    </a:p>
                  </a:txBody>
                  <a:tcPr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5B9CF5"/>
                </a:solidFill>
                <a:latin typeface="Inter"/>
              </a:defRPr>
            </a:pPr>
            <a:r>
              <a:t>Which won?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9CA3B4"/>
                </a:solidFill>
                <a:latin typeface="Inter"/>
              </a:defRPr>
            </a:pPr>
            <a:r>
              <a:t>The scores tell a story about tradeoffs.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Why This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8BA8"/>
                </a:solidFill>
                <a:latin typeface="Inter"/>
              </a:defRPr>
            </a:pPr>
            <a:r>
              <a:t>Single attempt = design slop territory: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Hope it's good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Re-run if it isn't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No basis for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Every output converges to the same generic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6C495"/>
                </a:solidFill>
                <a:latin typeface="Inter"/>
              </a:defRPr>
            </a:pPr>
            <a:r>
              <a:t>Parallel + evaluation: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3 different strategies explored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120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Objective scoring criteria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150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Combinable elements (best schedule + best announcement)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2179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Reproducible evaluation criteria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53D"/>
                </a:solidFill>
                <a:latin typeface="Inter"/>
              </a:defRPr>
            </a:pPr>
            <a:r>
              <a:t>This is how production AI systems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The Missing Piece —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CA3B4"/>
                </a:solidFill>
                <a:latin typeface="Inter"/>
              </a:defRPr>
            </a:pPr>
            <a:r>
              <a:t>Our agent plans great events. But it doesn't remember what happened.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Estimated 40 attendees... but 35 showed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79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WiFi was slow at the 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Hands-on exercises ran 15 minutes too long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177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Lightning talks were the highlight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853D"/>
                </a:solidFill>
                <a:latin typeface="Inter"/>
              </a:defRPr>
            </a:pPr>
            <a:r>
              <a:t>Without feedback: same mistakes, every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The Feedback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0972800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Plan Event  --&gt;  Run Event  --&gt;  Capture Feedback</a:t>
            </a:r>
            <a:br/>
            <a:r>
              <a:t>/plan-event      (real world)        |</a:t>
            </a:r>
            <a:br/>
            <a:r>
              <a:t>     ^                               v</a:t>
            </a:r>
            <a:br/>
            <a:r>
              <a:t>     |                        Store in</a:t>
            </a:r>
            <a:br/>
            <a:r>
              <a:t>     +------------------------past-events/</a:t>
            </a:r>
            <a:br/>
            <a:r>
              <a:t>        Next /plan-event reads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853D"/>
                </a:solidFill>
                <a:latin typeface="Inter"/>
              </a:defRPr>
            </a:pPr>
            <a:r>
              <a:t>The agent gets smarter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Post-Event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9144000" cy="47548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8778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B4"/>
                </a:solidFill>
                <a:latin typeface="JetBrains Mono"/>
              </a:defRPr>
            </a:pPr>
            <a:r>
              <a:t>{</a:t>
            </a:r>
            <a:br/>
            <a:r>
              <a:t>  "event": "RAG Pipeline Workshop",</a:t>
            </a:r>
            <a:br/>
            <a:r>
              <a:t>  "date": "2026-03-15",</a:t>
            </a:r>
            <a:br/>
            <a:r>
              <a:t>  "actualAttendees": 35,</a:t>
            </a:r>
            <a:br/>
            <a:r>
              <a:t>  "estimatedAttendees": 40,</a:t>
            </a:r>
            <a:br/>
            <a:r>
              <a:t>  "venueRating": 3,</a:t>
            </a:r>
            <a:br/>
            <a:r>
              <a:t>  "formatRating": 4.2,</a:t>
            </a:r>
            <a:br/>
            <a:r>
              <a:t>  "feedbackHighlights": [</a:t>
            </a:r>
            <a:br/>
            <a:r>
              <a:t>    "Lightning talks were the best part",</a:t>
            </a:r>
            <a:br/>
            <a:r>
              <a:t>    "Loved the hands-on exercises"</a:t>
            </a:r>
            <a:br/>
            <a:r>
              <a:t>  ],</a:t>
            </a:r>
            <a:br/>
            <a:r>
              <a:t>  "improvementAreas": [</a:t>
            </a:r>
            <a:br/>
            <a:r>
              <a:t>    "WiFi too slow for live coding",</a:t>
            </a:r>
            <a:br/>
            <a:r>
              <a:t>    "Exercises ran 15 min over time"</a:t>
            </a:r>
            <a:br/>
            <a:r>
              <a:t>  ],</a:t>
            </a:r>
            <a:br/>
            <a:r>
              <a:t>  "lessonsLearned": [</a:t>
            </a:r>
            <a:br/>
            <a:r>
              <a:t>    "Cap exercises at 20 min with hard cutoff",</a:t>
            </a:r>
            <a:br/>
            <a:r>
              <a:t>    "Test venue WiFi before committing"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How /plan-event Uses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8BA8"/>
                </a:solidFill>
                <a:latin typeface="Inter"/>
              </a:defRPr>
            </a:pPr>
            <a:r>
              <a:t>Before (no feedback):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00" cy="10972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B4"/>
                </a:solidFill>
                <a:latin typeface="JetBrains Mono"/>
              </a:defRPr>
            </a:pPr>
            <a:r>
              <a:t>Venue: Maker Space Downtown</a:t>
            </a:r>
            <a:br/>
            <a:r>
              <a:t>  - Good location, affordable</a:t>
            </a:r>
            <a:br/>
            <a:r>
              <a:t>Exercises: 30 minutes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6C495"/>
                </a:solidFill>
                <a:latin typeface="Inter"/>
              </a:defRPr>
            </a:pPr>
            <a:r>
              <a:t>After (with past-events/ data):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9144000" cy="1645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77640"/>
            <a:ext cx="8778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B4"/>
                </a:solidFill>
                <a:latin typeface="JetBrains Mono"/>
              </a:defRPr>
            </a:pPr>
            <a:r>
              <a:t>Venue: Tech Hub East (Maker Space WiFi rated 3/10)</a:t>
            </a:r>
            <a:br/>
            <a:r>
              <a:t>  - Confirmed 100Mbps+ connection</a:t>
            </a:r>
            <a:br/>
            <a:r>
              <a:t>Exercises: 20 minutes max (past events ran over)</a:t>
            </a:r>
            <a:br/>
            <a:r>
              <a:t>  - Added hard cutoff timers</a:t>
            </a:r>
            <a:br/>
            <a:r>
              <a:t>Lightning talks: Added 15-min block (highest-rated)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CF4"/>
                </a:solidFill>
                <a:latin typeface="Inter"/>
              </a:defRPr>
            </a:pPr>
            <a:r>
              <a:t>Wiring it up — add to /plan-event: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35040"/>
            <a:ext cx="9144000" cy="731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B4"/>
                </a:solidFill>
                <a:latin typeface="JetBrains Mono"/>
              </a:defRPr>
            </a:pPr>
            <a:r>
              <a:t>Before generating, read all files in data/past-events/</a:t>
            </a:r>
            <a:br/>
            <a:r>
              <a:t>for lessons learned. Apply to venue, format, and schedule.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B4"/>
                </a:solidFill>
                <a:latin typeface="Inter"/>
              </a:defRPr>
            </a:pPr>
            <a:r>
              <a:t>The Full Feedback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Create mock feedback from a past 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434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Run /plan-event for a new topic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Watch the agent reference past feedback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7150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See recommendations change based on real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The Complete MeetupBot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What We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Session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945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Plans events with structured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Session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7432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Composable pipeline of commands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91839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Session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291839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3337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Quality automation with specialists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Session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Self-improvement through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Final tally: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5 slash commands  |  2 subagents  |  1 hook  |  1 feedback loop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Production Decision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When to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CLAUDE.md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488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Global rules, style, constraints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Slash commands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6517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Repeatable, composable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546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Subagents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1546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Domain-specific evaluation or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Hooks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6576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Automatic quality gates on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605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examples/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1605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Few-shot learning, output formatting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634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09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PRPs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6634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79" y="4709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Complex multi-step plans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Transferable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MeetupBot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General Pattern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Event JSON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488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Structured output for any domain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Composable commands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6517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Task pipelines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546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schedule-optimizer / comms-reviewer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1546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Domain specialist 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Auto-review hook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6576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Quality gates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605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3 competing variants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1605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Non-determinism + evaluation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634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09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past-events/ 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6634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79" y="4709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Learning loops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These patterns work for any agent you build.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8853D"/>
                </a:solidFill>
                <a:latin typeface="Inter"/>
              </a:defRPr>
            </a:pPr>
            <a:r>
              <a:t>BUILD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B4"/>
                </a:solidFill>
                <a:latin typeface="Inter"/>
              </a:defRPr>
            </a:pPr>
            <a:r>
              <a:t>Competing variants + evaluation + feedback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375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3 parallel variants with different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77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Evaluation using your existing subagents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177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Winner selection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57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/post-event command for capturing feedback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8978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Feedback integration into /plan-event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853D"/>
                </a:solidFill>
                <a:latin typeface="Inter"/>
              </a:defRPr>
            </a:pPr>
            <a:r>
              <a:t>Time: ~35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3 variants generated in parallel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Variants evaluated by your subagents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11879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Winner selected based on scores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/post-event command working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Past feedback influencing new plans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Where to Go Next — Routines &amp; Beyond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9CF5"/>
                </a:solidFill>
                <a:latin typeface="Inter"/>
              </a:defRPr>
            </a:pPr>
            <a:r>
              <a:t>Routines (new!) — Cloud automations without your laptop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19456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9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Scheduled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697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Every Monday, suggest this week's meetup topic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GitHub event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2004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When a PR opens, review event plan changes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API 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70332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When RSVP webhook fires, update attendee estimate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6C495"/>
                </a:solidFill>
                <a:latin typeface="Inter"/>
              </a:defRPr>
            </a:pPr>
            <a:r>
              <a:t>Claude Agent SDK — embed agents in your apps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9144000" cy="731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B4"/>
                </a:solidFill>
                <a:latin typeface="JetBrains Mono"/>
              </a:defRPr>
            </a:pPr>
            <a:r>
              <a:t>pip install claude-agent-sdk          # Python</a:t>
            </a:r>
            <a:br/>
            <a:r>
              <a:t>npm install @anthropic-ai/claude-agent-sdk  # TypeScript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Extend MeetupBot: MCP servers, more subagents, Routines, Agent SDK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Current Claude Models (April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79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Best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Opus 4.7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945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22402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Complex reasoning, long autonomy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1945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2402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1M tokens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Sonnet 4.6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7432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Fast, capable general 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7432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1M tokens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91839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37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Haiku 4.5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291839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3337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Quick tasks, triage, routing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291839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337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200K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Claude Code surfaces: CLI, Desktop (Mac/Windows), Web (claude.ai/code), VS Code, JetBrains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ECF4"/>
                </a:solidFill>
                <a:latin typeface="Inter"/>
              </a:defRPr>
            </a:pPr>
            <a:r>
              <a:t>Course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9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Key Lesson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Session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1945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22402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CLAUDE.md rules shape agent behavior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Session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7432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Complete context files beat clever one-off prompts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91839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37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Session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291839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3337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Focused agents per task beat one agent doing everything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Session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8404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Multiple variants + scoring beat hoping the first attempt is good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A3B4"/>
                </a:solidFill>
                <a:latin typeface="Inter"/>
              </a:defRPr>
            </a:pPr>
            <a:r>
              <a:t>The constant across all 4 sessions: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853D"/>
                </a:solidFill>
                <a:latin typeface="Inter"/>
              </a:defRPr>
            </a:pPr>
            <a:r>
              <a:t>Same model. What changed was the context, the structure, and the feedback.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ECF4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B4"/>
                </a:solidFill>
                <a:latin typeface="Inter"/>
              </a:defRPr>
            </a:pPr>
            <a:r>
              <a:t>Nick Yeager — AI Solutions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9CF5"/>
                </a:solidFill>
                <a:latin typeface="Inter"/>
              </a:defRPr>
            </a:pPr>
            <a:r>
              <a:t>nickcyeager.com | GitHub: nickyeager | 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853D"/>
                </a:solidFill>
                <a:latin typeface="Inter"/>
              </a:defRPr>
            </a:pPr>
            <a:r>
              <a:t>Resources: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663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Inter"/>
              </a:defRPr>
            </a:pPr>
            <a:r>
              <a:t>Claude Code Docs: code.claude.com/docs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77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Inter"/>
              </a:defRPr>
            </a:pPr>
            <a:r>
              <a:t>Claude Agent SDK: code.claude.com/docs/en/agent-sdk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Inter"/>
              </a:defRPr>
            </a:pPr>
            <a:r>
              <a:t>ngrok AI Gateway: ngrok.com/docs/ai-gateway/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00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263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Inter"/>
              </a:defRPr>
            </a:pPr>
            <a:r>
              <a:t>Course Repo: github.com/nickyeager/tucson-claude-code-meetup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