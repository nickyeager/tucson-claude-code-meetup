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>
                <a:solidFill>
                  <a:srgbClr val="E8ECF4"/>
                </a:solidFill>
                <a:latin typeface="Inter"/>
              </a:defRPr>
            </a:pPr>
            <a:r>
              <a:t>Building AI Agents</a:t>
            </a:r>
            <a:br/>
            <a:r>
              <a:t>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Session 1: Fundamentals + Your First Agent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CA3B4"/>
                </a:solidFill>
                <a:latin typeface="Inter"/>
              </a:defRPr>
            </a:pPr>
            <a:r>
              <a:t>From zero to structured event planning in 60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E8853D"/>
                </a:solidFill>
                <a:latin typeface="Inter"/>
              </a:defRPr>
            </a:pPr>
            <a:r>
              <a:t>Nick Yeager — AI Solutions Architect / nickcyeager.com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9CA3B4"/>
                </a:solidFill>
                <a:latin typeface="Inter"/>
              </a:defRPr>
            </a:pPr>
            <a:r>
              <a:t>Tucson Claude Code Meetup | github.com/ai-trailblazers/tucson-claude-code-meetup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What We're Building: MeetupBot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An AI agent that helps run a tech meetup: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62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Plans events</a:t>
            </a:r>
            <a:r>
              <a:rPr sz="2000">
                <a:solidFill>
                  <a:srgbClr val="9CA3B4"/>
                </a:solidFill>
                <a:latin typeface="Inter"/>
              </a:rPr>
              <a:t> — generates structured event details from a 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654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Schedules talks</a:t>
            </a:r>
            <a:r>
              <a:rPr sz="2000">
                <a:solidFill>
                  <a:srgbClr val="9CA3B4"/>
                </a:solidFill>
                <a:latin typeface="Inter"/>
              </a:rPr>
              <a:t> — manages speaker slots and timing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683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Drafts comms</a:t>
            </a:r>
            <a:r>
              <a:rPr sz="2000">
                <a:solidFill>
                  <a:srgbClr val="9CA3B4"/>
                </a:solidFill>
                <a:latin typeface="Inter"/>
              </a:rPr>
              <a:t> — writes emails, social posts, announcements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712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Learns from feedback</a:t>
            </a:r>
            <a:r>
              <a:rPr sz="2000">
                <a:solidFill>
                  <a:srgbClr val="9CA3B4"/>
                </a:solidFill>
                <a:latin typeface="Inter"/>
              </a:rPr>
              <a:t> — improves over time with attendee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By Session 4, you'll have: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0568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B4"/>
                </a:solidFill>
                <a:latin typeface="Inter"/>
              </a:defRPr>
            </a:pPr>
            <a:r>
              <a:t>A working agent with subagents, hooks, and a feedback 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217160"/>
            <a:ext cx="109728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9CA3B4"/>
                </a:solidFill>
                <a:latin typeface="Inter"/>
              </a:defRPr>
            </a:pPr>
            <a:r>
              <a:t>Real skills you can apply to any agent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Today's 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Input: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00" cy="548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6949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>
                <a:solidFill>
                  <a:srgbClr val="A6E3A1"/>
                </a:solidFill>
                <a:latin typeface="JetBrains Mono"/>
              </a:defRPr>
            </a:pPr>
            <a:r>
              <a:t>/plan-event "Building RAG pipelines"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Structured JSON event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What you'll learn: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57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0624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Git basics (just enough to be dangerous)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685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Claude Code setup &amp; navigation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080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Writing your first CLAUDE.md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491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Configuring ngrok AI Gateway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902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5216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Building your first slash command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What is Claude Code?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9CA3B4"/>
                </a:solidFill>
                <a:latin typeface="Inter"/>
              </a:defRPr>
            </a:pPr>
            <a:r>
              <a:t>An AI coding assistant that lives where you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286000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853D"/>
                </a:solidFill>
                <a:latin typeface="Inter"/>
              </a:defRPr>
            </a:pPr>
            <a:r>
              <a:t>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28800"/>
            <a:ext cx="7315200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87452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853D"/>
                </a:solidFill>
                <a:latin typeface="Inter"/>
              </a:defRPr>
            </a:pPr>
            <a: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22860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4"/>
                </a:solidFill>
                <a:latin typeface="Inter"/>
              </a:rPr>
              <a:t>CLI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331720"/>
            <a:ext cx="7315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3774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9CA3B4"/>
                </a:solidFill>
                <a:latin typeface="Inter"/>
              </a:defRPr>
            </a:pPr>
            <a:r>
              <a:t>Terminal-native (what we're using this morning)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4"/>
                </a:solidFill>
                <a:latin typeface="Inter"/>
              </a:rPr>
              <a:t>Desktop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788920"/>
            <a:ext cx="7315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8346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9CA3B4"/>
                </a:solidFill>
                <a:latin typeface="Inter"/>
              </a:defRPr>
            </a:pPr>
            <a:r>
              <a:t>Mac + Windows 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22860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4"/>
                </a:solidFill>
                <a:latin typeface="Inter"/>
              </a:rPr>
              <a:t>Web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3246120"/>
            <a:ext cx="7315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2918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9CA3B4"/>
                </a:solidFill>
                <a:latin typeface="Inter"/>
              </a:defRPr>
            </a:pPr>
            <a:r>
              <a:t>claude.ai/code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03320"/>
            <a:ext cx="22860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749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4"/>
                </a:solidFill>
                <a:latin typeface="Inter"/>
              </a:rPr>
              <a:t>VS Code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3703320"/>
            <a:ext cx="7315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37490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9CA3B4"/>
                </a:solidFill>
                <a:latin typeface="Inter"/>
              </a:defRPr>
            </a:pPr>
            <a:r>
              <a:t>Native extension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160520"/>
            <a:ext cx="22860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206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4"/>
                </a:solidFill>
                <a:latin typeface="Inter"/>
              </a:rPr>
              <a:t>JetBrains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017520" y="4160520"/>
            <a:ext cx="7315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08960" y="420624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9CA3B4"/>
                </a:solidFill>
                <a:latin typeface="Inter"/>
              </a:defRPr>
            </a:pPr>
            <a:r>
              <a:t>Native plugin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262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Capability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4480560"/>
            <a:ext cx="7315200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4526280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it does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983480"/>
            <a:ext cx="22860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4"/>
                </a:solidFill>
                <a:latin typeface="Inter"/>
              </a:rPr>
              <a:t>Reads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4983480"/>
            <a:ext cx="7315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0" y="50292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CA3B4"/>
                </a:solidFill>
                <a:latin typeface="Inter"/>
              </a:defRPr>
            </a:pPr>
            <a:r>
              <a:t>Understands your entire 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5440680"/>
            <a:ext cx="22860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486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4"/>
                </a:solidFill>
                <a:latin typeface="Inter"/>
              </a:rPr>
              <a:t>Edits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17520" y="5440680"/>
            <a:ext cx="7315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108960" y="54864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CA3B4"/>
                </a:solidFill>
                <a:latin typeface="Inter"/>
              </a:defRPr>
            </a:pPr>
            <a:r>
              <a:t>Modifies files with surgical precision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5897880"/>
            <a:ext cx="22860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943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4"/>
                </a:solidFill>
                <a:latin typeface="Inter"/>
              </a:rPr>
              <a:t>Runs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17520" y="5897880"/>
            <a:ext cx="7315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08960" y="59436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CA3B4"/>
                </a:solidFill>
                <a:latin typeface="Inter"/>
              </a:defRPr>
            </a:pPr>
            <a:r>
              <a:t>Executes commands, tests, scripts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355080"/>
            <a:ext cx="22860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400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4"/>
                </a:solidFill>
                <a:latin typeface="Inter"/>
              </a:rPr>
              <a:t>Searches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6355080"/>
            <a:ext cx="7315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0" y="6400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CA3B4"/>
                </a:solidFill>
                <a:latin typeface="Inter"/>
              </a:defRPr>
            </a:pPr>
            <a:r>
              <a:t>Finds code, patterns, dependencies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6812280"/>
            <a:ext cx="22860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6858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4"/>
                </a:solidFill>
                <a:latin typeface="Inter"/>
              </a:rPr>
              <a:t>Follows rules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17520" y="6812280"/>
            <a:ext cx="7315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0" y="6858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CA3B4"/>
                </a:solidFill>
                <a:latin typeface="Inter"/>
              </a:defRPr>
            </a:pPr>
            <a:r>
              <a:t>Reads CLAUDE.md every conversation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7269480"/>
            <a:ext cx="22860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7315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4"/>
                </a:solidFill>
                <a:latin typeface="Inter"/>
              </a:rPr>
              <a:t>Extends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17520" y="7269480"/>
            <a:ext cx="7315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108960" y="73152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9CA3B4"/>
                </a:solidFill>
                <a:latin typeface="Inter"/>
              </a:defRPr>
            </a:pPr>
            <a:r>
              <a:t>Custom commands, subagents, hooks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Installation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00" cy="25603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877824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>
                <a:solidFill>
                  <a:srgbClr val="A6E3A1"/>
                </a:solidFill>
                <a:latin typeface="JetBrains Mono"/>
              </a:defRPr>
            </a:pPr>
            <a:r>
              <a:t># Install Claude Code</a:t>
            </a:r>
            <a:br/>
            <a:r>
              <a:t>curl -fsSL https://claude.ai/install.sh | bash</a:t>
            </a:r>
            <a:br/>
            <a:br/>
            <a:r>
              <a:t># Create your project</a:t>
            </a:r>
            <a:br/>
            <a:r>
              <a:t>mkdir meetup-agent</a:t>
            </a:r>
            <a:br/>
            <a:r>
              <a:t>cd meetup-agent</a:t>
            </a:r>
            <a:br/>
            <a:r>
              <a:t>git init</a:t>
            </a:r>
            <a:br/>
            <a:br/>
            <a:r>
              <a:t># Launch Claude Code</a:t>
            </a:r>
            <a:br/>
            <a: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Requirements: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142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Node.js 18+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617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1091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Git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40918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5838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Anthropic API key (or ngrok AI Gateway)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97296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B4"/>
                </a:solidFill>
                <a:latin typeface="Inter"/>
              </a:defRPr>
            </a:pPr>
            <a:r>
              <a:t>See sessions/SETUP-GUIDE.md for detailed install instructions + LLM provider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12648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Git Basics — Just Enough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9CA3B4"/>
                </a:solidFill>
                <a:latin typeface="Inter"/>
              </a:defRPr>
            </a:pPr>
            <a:r>
              <a:t>Think of git commits as save points in a video game.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9144000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877824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>
                <a:solidFill>
                  <a:srgbClr val="A6E3A1"/>
                </a:solidFill>
                <a:latin typeface="JetBrains Mono"/>
              </a:defRPr>
            </a:pPr>
            <a:r>
              <a:t># Initialize a new repo</a:t>
            </a:r>
            <a:br/>
            <a:r>
              <a:t>git init</a:t>
            </a:r>
            <a:br/>
            <a:br/>
            <a:r>
              <a:t># Stage all changes</a:t>
            </a:r>
            <a:br/>
            <a:r>
              <a:t>git add -A</a:t>
            </a:r>
            <a:br/>
            <a:br/>
            <a:r>
              <a:t># Save a checkpoint</a:t>
            </a:r>
            <a:br/>
            <a:r>
              <a:t>git commit -m "Add initial project structure"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That's it. Three commands.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80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9CA3B4"/>
                </a:solidFill>
                <a:latin typeface="Inter"/>
              </a:defRPr>
            </a:pPr>
            <a:r>
              <a:t>git init — Start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5189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681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9CA3B4"/>
                </a:solidFill>
                <a:latin typeface="Inter"/>
              </a:defRPr>
            </a:pPr>
            <a:r>
              <a:t>git add -A — Select what to save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95782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9070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9CA3B4"/>
                </a:solidFill>
                <a:latin typeface="Inter"/>
              </a:defRPr>
            </a:pPr>
            <a:r>
              <a:t>git commit -m "" — Save with a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83096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You can always go back to a save point if things break.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CLAUDE.md — Your Agent's Rulebook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224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9CA3B4"/>
                </a:solidFill>
                <a:latin typeface="Inter"/>
              </a:rPr>
              <a:t>Lives at your </a:t>
            </a:r>
            <a:r>
              <a:rPr sz="2000" b="1">
                <a:solidFill>
                  <a:srgbClr val="E8ECF4"/>
                </a:solidFill>
                <a:latin typeface="Inter"/>
              </a:rPr>
              <a:t>project root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613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051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Auto-read</a:t>
            </a:r>
            <a:r>
              <a:rPr sz="2000">
                <a:solidFill>
                  <a:srgbClr val="9CA3B4"/>
                </a:solidFill>
                <a:latin typeface="Inter"/>
              </a:rPr>
              <a:t> at the start of every conversation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0022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4942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CA3B4"/>
                </a:solidFill>
                <a:latin typeface="Inter"/>
              </a:defRPr>
            </a:pPr>
            <a:r>
              <a:t>Defines your agent's personality, formats, constraints, and conventions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71216"/>
            <a:ext cx="731520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69494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>
                <a:solidFill>
                  <a:srgbClr val="A6E3A1"/>
                </a:solidFill>
                <a:latin typeface="JetBrains Mono"/>
              </a:defRPr>
            </a:pPr>
            <a:r>
              <a:t>my-project/</a:t>
            </a:r>
            <a:br/>
            <a:r>
              <a:t>  CLAUDE.md        &lt;-- Claude reads this FIRST</a:t>
            </a:r>
            <a:br/>
            <a:r>
              <a:t>  src/</a:t>
            </a:r>
            <a:br/>
            <a:r>
              <a:t>  tests/</a:t>
            </a:r>
            <a:br/>
            <a:r>
              <a:t>  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Inter"/>
              </a:defRPr>
            </a:pPr>
            <a:r>
              <a:t>This is context engineering.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You're not just prompting — you're programming behavior.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What Goes in CLAUDE.md?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058400" cy="4572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692640" cy="4297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defRPr sz="1300">
                <a:solidFill>
                  <a:srgbClr val="A6E3A1"/>
                </a:solidFill>
                <a:latin typeface="JetBrains Mono"/>
              </a:defRPr>
            </a:pPr>
            <a:r>
              <a:t># MeetupBot</a:t>
            </a:r>
            <a:br/>
            <a:br/>
            <a:r>
              <a:t>## Personality</a:t>
            </a:r>
            <a:br/>
            <a:r>
              <a:t>Friendly, organized, opinionated about good events.</a:t>
            </a:r>
            <a:br/>
            <a:r>
              <a:t>Concise and actionable -- no filler.</a:t>
            </a:r>
            <a:br/>
            <a:br/>
            <a:r>
              <a:t>## Output Format</a:t>
            </a:r>
            <a:br/>
            <a:r>
              <a:t>IMPORTANT: All event data MUST be structured JSON.</a:t>
            </a:r>
            <a:br/>
            <a:br/>
            <a:r>
              <a:t>## Event Plan Schema</a:t>
            </a:r>
            <a:br/>
            <a:r>
              <a:t>- eventName, description, date, format, targetAudience</a:t>
            </a:r>
            <a:br/>
            <a:r>
              <a:t>- estimatedAttendees, suggestedDuration, topicTags</a:t>
            </a:r>
            <a:br/>
            <a:r>
              <a:t>- suggestedSpeakers: [{id, name, reason}]</a:t>
            </a:r>
            <a:br/>
            <a:r>
              <a:t>- suggestedVenue: {id, name, reason}</a:t>
            </a:r>
            <a:br/>
            <a:r>
              <a:t>- schedule: {totalMinutes, slots: [{time, duration, ...}]}</a:t>
            </a:r>
            <a:br/>
            <a:r>
              <a:t>- estimatedCost: {venue, food, total, perAttendee}</a:t>
            </a:r>
            <a:br/>
            <a:br/>
            <a:r>
              <a:t>## Data Locations</a:t>
            </a:r>
            <a:br/>
            <a:r>
              <a:t>- Venues: data/venues.json</a:t>
            </a:r>
            <a:br/>
            <a:r>
              <a:t>- Speakers: data/speakers.json</a:t>
            </a:r>
            <a:br/>
            <a:r>
              <a:t>- Past events: data/past-events/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B4"/>
                </a:solidFill>
                <a:latin typeface="Inter"/>
              </a:defRPr>
            </a:pPr>
            <a:r>
              <a:t>Starter template available: templates/CLAUDE-starter.md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Why Structured Output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53D"/>
                </a:solidFill>
                <a:latin typeface="Inter"/>
              </a:defRPr>
            </a:pPr>
            <a:r>
              <a:t>Freeform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71600"/>
            <a:ext cx="5029200" cy="502920"/>
          </a:xfrm>
          <a:prstGeom prst="rect">
            <a:avLst/>
          </a:prstGeom>
          <a:solidFill>
            <a:srgbClr val="1A2030"/>
          </a:solidFill>
          <a:ln w="12700">
            <a:solidFill>
              <a:srgbClr val="E88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853D"/>
                </a:solidFill>
                <a:latin typeface="Inter"/>
              </a:defRPr>
            </a:pPr>
            <a:r>
              <a:t>Structured 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20"/>
            <a:ext cx="5029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"The event could be on March 15th..."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74520"/>
            <a:ext cx="5029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"date": "2026-03-15"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331720"/>
            <a:ext cx="5029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Inconsistent formatting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331720"/>
            <a:ext cx="5029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2377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Predictable schema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88920"/>
            <a:ext cx="5029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Hard to parse programmatically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788920"/>
            <a:ext cx="5029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Easy to pipe into other tools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246120"/>
            <a:ext cx="5029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Different every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246120"/>
            <a:ext cx="5029200" cy="457200"/>
          </a:xfrm>
          <a:prstGeom prst="rect">
            <a:avLst/>
          </a:prstGeom>
          <a:solidFill>
            <a:srgbClr val="1A2030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0" y="3291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Reliable and repeatable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03320"/>
            <a:ext cx="5029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9CA3B4"/>
                </a:solidFill>
                <a:latin typeface="Inter"/>
              </a:defRPr>
            </a:pPr>
            <a:r>
              <a:t>Good for humans reading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703320"/>
            <a:ext cx="5029200" cy="457200"/>
          </a:xfrm>
          <a:prstGeom prst="rect">
            <a:avLst/>
          </a:prstGeom>
          <a:solidFill>
            <a:srgbClr val="222A3A"/>
          </a:solidFill>
          <a:ln w="6350">
            <a:solidFill>
              <a:srgbClr val="2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749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9CA3B4"/>
                </a:solidFill>
                <a:latin typeface="Inter"/>
              </a:rPr>
              <a:t>Good for </a:t>
            </a:r>
            <a:r>
              <a:rPr sz="1400" b="1">
                <a:solidFill>
                  <a:srgbClr val="E8ECF4"/>
                </a:solidFill>
                <a:latin typeface="Inter"/>
              </a:rPr>
              <a:t>agents consuming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E8853D"/>
                </a:solidFill>
                <a:latin typeface="Inter"/>
              </a:defRPr>
            </a:pPr>
            <a:r>
              <a:t>JSON schemas make agents reliable.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If another agent (or your code) needs to read the output, structure wins.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E8ECF4"/>
                </a:solidFill>
                <a:latin typeface="Inter"/>
              </a:defRPr>
            </a:pPr>
            <a:r>
              <a:t>LIVE DEMO: Creating CLAUDE.md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What to watch for: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71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Immediate reading</a:t>
            </a:r>
            <a:r>
              <a:rPr sz="2000">
                <a:solidFill>
                  <a:srgbClr val="9CA3B4"/>
                </a:solidFill>
                <a:latin typeface="Inter"/>
              </a:rPr>
              <a:t> — Claude picks it up right away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0995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5915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Rules affect responses</a:t>
            </a:r>
            <a:r>
              <a:rPr sz="2000">
                <a:solidFill>
                  <a:srgbClr val="9CA3B4"/>
                </a:solidFill>
                <a:latin typeface="Inter"/>
              </a:rPr>
              <a:t> — output format changes instantly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4886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98064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ECF4"/>
                </a:solidFill>
                <a:latin typeface="Inter"/>
              </a:rPr>
              <a:t>IMPORTANT keyword</a:t>
            </a:r>
            <a:r>
              <a:rPr sz="2000">
                <a:solidFill>
                  <a:srgbClr val="9CA3B4"/>
                </a:solidFill>
                <a:latin typeface="Inter"/>
              </a:rPr>
              <a:t> — elevates priority of a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E8853D"/>
                </a:solidFill>
                <a:latin typeface="Inter"/>
              </a:defRPr>
            </a:pPr>
            <a:r>
              <a:t>Key moment: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059936"/>
            <a:ext cx="9144000" cy="9144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59936"/>
            <a:ext cx="54864" cy="9144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51376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Ask Claude something before CLAUDE.md exists, then again after.</a:t>
            </a:r>
            <a:br/>
            <a:r>
              <a:t>See the difference.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576072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How Claude Code Reads Your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Claude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645920"/>
            <a:ext cx="54864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79" y="1691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It Means For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Scans project structure at start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4884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It already knows your file tree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Reads files on demand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5176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2697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Say "read data/venues.json" — it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54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Searches across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315468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Finds every match in your project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1M token context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657600"/>
            <a:ext cx="54864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79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Your entire project fits in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Pro tip: Mention key files explicitly in CLAUDE.md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Permissions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Claude Code asks before running commands. Pre-configure trust: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029200" cy="22860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{</a:t>
            </a:r>
            <a:br/>
            <a:r>
              <a:t>  "permissions": {</a:t>
            </a:r>
            <a:br/>
            <a:r>
              <a:t>    "allow": [</a:t>
            </a:r>
            <a:br/>
            <a:r>
              <a:t>      "Bash(git *)",</a:t>
            </a:r>
            <a:br/>
            <a:r>
              <a:t>      "Bash(python *)",</a:t>
            </a:r>
            <a:br/>
            <a:r>
              <a:t>      "Bash(npm test)"</a:t>
            </a:r>
            <a:br/>
            <a:r>
              <a:t>    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19456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22402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How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19456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2402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Best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Interactive (default)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6974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Approve each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6974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Learning, auditing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3657600" cy="4572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Auto Mode (Shift+Tab)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200400"/>
            <a:ext cx="3657600" cy="4572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79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Auto-approves safe 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3200400"/>
            <a:ext cx="3657600" cy="457200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246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Development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033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Allow list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7033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Pre-configured in settings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37033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3749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Teams, 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Connecting to an LLM Provider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Setup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Claude 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Already logged 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$100/mo subscription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Anthropic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Set ANTHROPIC_API_KEY env var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Pay per token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ngrok AI Gateway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One endpoint, multiple providers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Free tier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CF4"/>
                </a:solidFill>
                <a:latin typeface="Inter"/>
              </a:defRPr>
            </a:pPr>
            <a:r>
              <a:t>Simplest path: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7315200" cy="548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export ANTHROPIC_API_KEY=sk-ant-your-key-here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All exercises work identically regardless of which option you choose.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ngrok AI Gateway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9CF5"/>
                </a:solidFill>
                <a:latin typeface="Inter"/>
              </a:defRPr>
            </a:pPr>
            <a:r>
              <a:t>One endpoint. Multiple providers. Automatic routing.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9144000" cy="164592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8778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Your App  ---&gt;  ngrok AI Gateway  ---&gt;  Anthropic</a:t>
            </a:r>
            <a:br/>
            <a:r>
              <a:t>                                  ---&gt;  OpenAI</a:t>
            </a:r>
            <a:br/>
            <a:r>
              <a:t>                                  ---&gt;  Google</a:t>
            </a:r>
            <a:br/>
            <a:r>
              <a:t>                                  ---&gt;  Ollama (local)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3434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Failover — if Anthropic is down, route to OpenAI automatically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Cost routing — ngrok/auto picks the cheapest model for the task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23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PII redaction — strip sensitive data before it hits the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63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12647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SDK compatible — drop-in replacement, no code changes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AI Gateway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Good For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ngrok AI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Multi-provider routing, failover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Production apps, cost optimization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OpenRouter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Unified API for 200+ models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Model comparison, niche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LiteLLM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Open-source proxy, self-hosted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Full control, no vendor lock-in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Portkey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Observability + routing + caching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657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Enterprise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CA3B4"/>
                </a:solidFill>
                <a:latin typeface="Inter"/>
              </a:defRPr>
            </a:pPr>
            <a:r>
              <a:t>For Claude Code: Direct Anthropic API or ngrok. Others useful for multi-model apps.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Provider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6C495"/>
                </a:solidFill>
                <a:latin typeface="Inter"/>
              </a:defRPr>
            </a:pPr>
            <a:r>
              <a:t>Option A: Direct Anthropic API (recommended)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export ANTHROPIC_API_KEY=sk-ant-your-key-here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5B9CF5"/>
                </a:solidFill>
                <a:latin typeface="Inter"/>
              </a:defRPr>
            </a:pPr>
            <a:r>
              <a:t>Option B: ngrok AI Gateway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7315200" cy="146304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B4"/>
                </a:solidFill>
                <a:latin typeface="JetBrains Mono"/>
              </a:defRPr>
            </a:pPr>
            <a:r>
              <a:t>{</a:t>
            </a:r>
            <a:br/>
            <a:r>
              <a:t>  "baseUrl": "https://your-gateway.ngrok.app/v1",</a:t>
            </a:r>
            <a:br/>
            <a:r>
              <a:t>  "apiKey": "ngrok-...",</a:t>
            </a:r>
            <a:br/>
            <a:r>
              <a:t>  "defaultModel": "ngrok/auto"</a:t>
            </a:r>
            <a:br/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See sessions/SETUP-GUIDE.md for detailed 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5943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Slash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CA3B4"/>
                </a:solidFill>
                <a:latin typeface="Inter"/>
              </a:defRPr>
            </a:pPr>
            <a:r>
              <a:t>Custom workflows that live in your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7315200" cy="18288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6949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.claude/</a:t>
            </a:r>
            <a:br/>
            <a:r>
              <a:t>  commands/</a:t>
            </a:r>
            <a:br/>
            <a:r>
              <a:t>    plan-event.md      &lt;-- /plan-event</a:t>
            </a:r>
            <a:br/>
            <a:r>
              <a:t>    draft-email.md     &lt;-- /draft-email</a:t>
            </a:r>
            <a:br/>
            <a:r>
              <a:t>    schedule-talks.md  &lt;-- /schedule-talks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434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Files in .claude/commands/ become slash commands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0292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Use $ARGUMENTS to capture user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23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They're just markdown — prompts with 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179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080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Claude Code also supports .claude/skills/ with richer features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Anatomy of a Slash Command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9CF5"/>
                </a:solidFill>
                <a:latin typeface="JetBrains Mono"/>
              </a:defRPr>
            </a:pPr>
            <a:r>
              <a:t>.claude/commands/plan-event.md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9144000" cy="36576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8778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Plan a meetup event for the following topic: $ARGUMENTS</a:t>
            </a:r>
            <a:br/>
            <a:br/>
            <a:r>
              <a:t>Follow these steps:</a:t>
            </a:r>
            <a:br/>
            <a:r>
              <a:t>1. Read CLAUDE.md for output format rules</a:t>
            </a:r>
            <a:br/>
            <a:r>
              <a:t>2. Generate an event plan as structured JSON</a:t>
            </a:r>
            <a:br/>
            <a:r>
              <a:t>3. Include: eventName, date, description,</a:t>
            </a:r>
            <a:br/>
            <a:r>
              <a:t>   targetAudience, suggestedSpeakers, schedule,</a:t>
            </a:r>
            <a:br/>
            <a:r>
              <a:t>   and estimatedCost</a:t>
            </a:r>
            <a:br/>
            <a:r>
              <a:t>4. Save the output to events/</a:t>
            </a:r>
            <a:br/>
            <a:br/>
            <a:r>
              <a:t>IMPORTANT: Output MUST be valid JSON matching</a:t>
            </a:r>
            <a:br/>
            <a:r>
              <a:t>the schema in CLAUDE.md.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853D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CA3B4"/>
                </a:solidFill>
                <a:latin typeface="Inter"/>
              </a:defRPr>
            </a:pPr>
            <a:r>
              <a:t>Building /plan-event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251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Create .claude/commands/plan-event.md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8463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Run /plan-event "Building RAG pipelines"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4406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Watch Claude generate structured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Check the output file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Power Keywords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Words that change how Claude prioritizes instructions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Keyword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21031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2148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21031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148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Example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06039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IMPORTANT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606039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651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Elevates priority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2606039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6517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IMPORTANT: Always return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546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Proactively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31089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31546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Act without asking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31089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315467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Proactively create test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6118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MUST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6118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79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Hard requirement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36118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657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Output MUST include a date field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NEVER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41148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Hard prohibition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41148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79" y="4160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NEVER use placeholder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Use sparingly. If everything is IMPORTANT, nothing 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Inter"/>
              </a:defRPr>
            </a:pPr>
            <a:r>
              <a:t>Speed controls: /fast (toggle fast mode) · /effort low|medium|high|max · 'ultrathink' for deep reasoning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Tips &amp;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6C495"/>
                </a:solidFill>
                <a:latin typeface="Inter"/>
              </a:defRPr>
            </a:pPr>
            <a:r>
              <a:t>Do: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Be specific in CLAUDE.md — schemas, examples,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97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Provide example output in your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Commit often (save points!)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Test your slash commands with different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38BA8"/>
                </a:solidFill>
                <a:latin typeface="Inter"/>
              </a:defRPr>
            </a:pPr>
            <a:r>
              <a:t>Don't: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Say "production-ready" (means nothing to an AI)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035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66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Write vague rules like "be good at coding"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15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77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Forget to commit before experimenting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126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89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Skip the CLAUDE.md — it's the foundation of everything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537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400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CF4"/>
                </a:solidFill>
                <a:latin typeface="Inter"/>
              </a:defRPr>
            </a:pPr>
            <a:r>
              <a:t>Accept first generic output — AI falls back to the same patterns (Session 2: "design slop")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When Things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Symptom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645920"/>
            <a:ext cx="3657600" cy="457200"/>
          </a:xfrm>
          <a:prstGeom prst="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853D"/>
                </a:solidFill>
                <a:latin typeface="Inter"/>
              </a:defRPr>
            </a:pPr>
            <a:r>
              <a:t>Fix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API key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"authentication error"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4884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1945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echo $ANTHROPIC_API_KEY — is it set?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Invalid 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Broken or partial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65176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Stricter schema rules in CLAUDE.md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Command not found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79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/plan-event doesn't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15468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2004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Check .claude/commands/ path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Permission denied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657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Claude keeps asking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65760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703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Shift+Tab for Auto Mode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605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Wrong format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41605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79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Text instead of 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4160520"/>
            <a:ext cx="3657600" cy="457200"/>
          </a:xfrm>
          <a:prstGeom prst="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79" y="4206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CF4"/>
                </a:solidFill>
                <a:latin typeface="Inter"/>
              </a:defRPr>
            </a:pPr>
            <a:r>
              <a:t>IMPORTANT: Output MUST be 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853D"/>
                </a:solidFill>
                <a:latin typeface="Inter"/>
              </a:defRPr>
            </a:pPr>
            <a:r>
              <a:t>Pro tip: Commit before debugging so you can git checkout . to rollback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The Iteration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CA3B4"/>
                </a:solidFill>
                <a:latin typeface="Inter"/>
              </a:defRPr>
            </a:pPr>
            <a:r>
              <a:t>How to improve your agent's output over time: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1060704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B4"/>
                </a:solidFill>
                <a:latin typeface="JetBrains Mono"/>
              </a:defRPr>
            </a:pPr>
            <a:r>
              <a:t>Ask Claude  -&gt;  Read Output  -&gt;  Spot Problems  -&gt;  Update CLAUDE.md  -&gt;  Ask Again</a:t>
            </a:r>
            <a:br/>
            <a:r>
              <a:t>     ^                                                                    |</a:t>
            </a:r>
            <a:br/>
            <a:r>
              <a:t>     +--------------------------------------------------------------------+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Run your slash command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177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Evaluate — does the output match the schema?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Refine — update CLAUDE.md with specifics, not vibes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8978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Re-test with the same input to verify 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9CF5"/>
                </a:solidFill>
                <a:latin typeface="Inter"/>
              </a:defRPr>
            </a:pPr>
            <a:r>
              <a:t>Every correction in CLAUDE.md prevents the same mistake across all future commands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E8853D"/>
                </a:solidFill>
                <a:latin typeface="Inter"/>
              </a:defRPr>
            </a:pPr>
            <a:r>
              <a:t>BUILD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Exercise: sessions/session-1/EXERCISE.md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ECF4"/>
                </a:solidFill>
                <a:latin typeface="Inter"/>
              </a:defRPr>
            </a:pPr>
            <a:r>
              <a:t>Goal: Get /plan-event generating structured JSON event 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5262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Set up your project and git repo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92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Create your CLAUDE.md with output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Configure LLM provider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623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Build the /plan-event slash command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9893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Generate at least one event plan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550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ECF4"/>
                </a:solidFill>
                <a:latin typeface="Inter"/>
              </a:defRPr>
            </a:pPr>
            <a:r>
              <a:t>Commit your work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Checkpoint — What You Should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Git repo initialized with commits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79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CLAUDE.md at project root with output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Project structure with data/ directory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LLM provider connected (API key, Claude Max, or ngrok)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/plan-event slash command working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623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CF4"/>
                </a:solidFill>
                <a:latin typeface="Inter"/>
              </a:defRPr>
            </a:pPr>
            <a:r>
              <a:t>At least one event plan saved as JSON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Inter"/>
              </a:defRPr>
            </a:pPr>
            <a:r>
              <a:t>What's Next: Session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B9CF5"/>
                </a:solidFill>
                <a:latin typeface="Inter"/>
              </a:defRPr>
            </a:pPr>
            <a:r>
              <a:t>Context Engineering: Blueprints Beat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INITIAL.md — project bootstrap instructions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54679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PRP (Prompt-Reusable Patterns) — reusable context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862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Comms system — draft emails, social posts, announcements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1772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CF4"/>
                </a:solidFill>
                <a:latin typeface="Inter"/>
              </a:defRPr>
            </a:pPr>
            <a:r>
              <a:t>Moving from single commands to coordinated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853D"/>
                </a:solidFill>
                <a:latin typeface="Inter"/>
              </a:defRPr>
            </a:pPr>
            <a:r>
              <a:t>Session 1: tools working. Session 2: wiring them into a pipeline.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8ECF4"/>
                </a:solidFill>
                <a:latin typeface="Inter"/>
              </a:defRPr>
            </a:pPr>
            <a:r>
              <a:t>Session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B4"/>
                </a:solidFill>
                <a:latin typeface="Inter"/>
              </a:defRPr>
            </a:pPr>
            <a:r>
              <a:t>Three things to remember: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853D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CF4"/>
                </a:solidFill>
                <a:latin typeface="Inter"/>
              </a:defRPr>
            </a:pPr>
            <a:r>
              <a:t>CLAUDE.md is your agent's brain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Every rule you write shapes every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B9CF5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CF4"/>
                </a:solidFill>
                <a:latin typeface="Inter"/>
              </a:defRPr>
            </a:pPr>
            <a:r>
              <a:t>Structured output &gt; freeform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JSON schemas make agents reliable and composable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6C495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CF4"/>
                </a:solidFill>
                <a:latin typeface="Inter"/>
              </a:defRPr>
            </a:pPr>
            <a:r>
              <a:t>ngrok AI Gateway = one endpoint, many providers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CA3B4"/>
                </a:solidFill>
                <a:latin typeface="Inter"/>
              </a:defRPr>
            </a:pPr>
            <a:r>
              <a:t>Simplify keys, add failover, control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853D"/>
                </a:solidFill>
                <a:latin typeface="Inter"/>
              </a:defRPr>
            </a:pPr>
            <a:r>
              <a:t>You just built your first agent feature.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